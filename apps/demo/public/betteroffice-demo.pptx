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762000" y="64008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6254E7"/>
                </a:solidFill>
                <a:latin typeface="Inter"/>
              </a:rPr>
              <a:t>betteroffice</a:t>
            </a:r>
            <a:endParaRPr lang="en-US" sz="1800"/>
          </a:p>
        </p:txBody>
      </p:sp>
    </p:spTree>
  </p:cSld>
  <p:sldLayoutIdLst>
    <p:sldLayoutId id="1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0668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000" b="1">
                <a:solidFill>
                  <a:srgbClr val="FFFFFF"/>
                </a:solidFill>
                <a:latin typeface="Inter"/>
              </a:rPr>
              <a:t>PPTX, the third format</a:t>
            </a:r>
            <a:endParaRPr lang="en-US" sz="1800"/>
          </a:p>
        </p:txBody>
      </p:sp>
      <p:sp>
        <p:nvSpPr>
          <p:cNvPr id="3" name="Subtitle"/>
          <p:cNvSpPr txBox="1"/>
          <p:nvPr/>
        </p:nvSpPr>
        <p:spPr>
          <a:xfrm>
            <a:off x="914400" y="26670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2000">
                <a:solidFill>
                  <a:srgbClr val="D9D5FF"/>
                </a:solidFill>
                <a:latin typeface="Inter"/>
              </a:rPr>
              <a:t>A Rust engine from guarded package parts to every collaborative pixel.</a:t>
            </a:r>
            <a:endParaRPr lang="en-US" sz="1800"/>
          </a:p>
        </p:txBody>
      </p:sp>
      <p:sp>
        <p:nvSpPr>
          <p:cNvPr id="4" name="Architecture note"/>
          <p:cNvSpPr txBox="1"/>
          <p:nvPr/>
        </p:nvSpPr>
        <p:spPr>
          <a:xfrm>
            <a:off x="914400" y="3733800"/>
            <a:ext cx="8382000" cy="762000"/>
          </a:xfrm>
          <a:prstGeom prst="roundRect">
            <a:avLst/>
          </a:prstGeom>
          <a:solidFill>
            <a:srgbClr val="4A3FB5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600" b="1">
                <a:solidFill>
                  <a:srgbClr val="FFFFFF"/>
                </a:solidFill>
                <a:latin typeface="Inter"/>
              </a:rPr>
              <a:t>Parse · edit · shape · lay out · emit</a:t>
            </a:r>
            <a:endParaRPr lang="en-US" sz="1800"/>
          </a:p>
        </p:txBody>
      </p:sp>
      <p:pic>
        <p:nvPicPr>
          <p:cNvPr id="5" name="BetterOffice mark" descr="BetterOffice brand mark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58400" y="609600"/>
            <a:ext cx="914400" cy="914400"/>
          </a:xfrm>
          <a:prstGeom prst="roundRect">
            <a:avLst/>
          </a:prstGeom>
          <a:ln>
            <a:noFill/>
          </a:ln>
        </p:spPr>
      </p:pic>
      <p:grpSp>
        <p:nvGrpSpPr>
          <p:cNvPr id="6" name="Native pipeline"/>
          <p:cNvGrpSpPr/>
          <p:nvPr/>
        </p:nvGrpSpPr>
        <p:grpSpPr>
          <a:xfrm>
            <a:off x="914400" y="4876800"/>
            <a:ext cx="10363200" cy="914400"/>
            <a:chOff x="0" y="0"/>
            <a:chExt cx="10363200" cy="914400"/>
          </a:xfrm>
        </p:grpSpPr>
        <p:sp>
          <p:nvSpPr>
            <p:cNvPr id="7" name="Parse stage"/>
            <p:cNvSpPr txBox="1"/>
            <p:nvPr/>
          </p:nvSpPr>
          <p:spPr>
            <a:xfrm>
              <a:off x="0" y="0"/>
              <a:ext cx="2377440" cy="914400"/>
            </a:xfrm>
            <a:prstGeom prst="roundRect">
              <a:avLst/>
            </a:prstGeom>
            <a:solidFill>
              <a:srgbClr val="6254E7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500" b="1">
                  <a:solidFill>
                    <a:srgbClr val="FFFFFF"/>
                  </a:solidFill>
                  <a:latin typeface="Inter"/>
                </a:rPr>
                <a:t>Parse</a:t>
              </a:r>
              <a:endParaRPr lang="en-US" sz="1800"/>
            </a:p>
          </p:txBody>
        </p:sp>
        <p:sp>
          <p:nvSpPr>
            <p:cNvPr id="8" name="Collaborate stage"/>
            <p:cNvSpPr txBox="1"/>
            <p:nvPr/>
          </p:nvSpPr>
          <p:spPr>
            <a:xfrm>
              <a:off x="2667000" y="0"/>
              <a:ext cx="2377440" cy="914400"/>
            </a:xfrm>
            <a:prstGeom prst="roundRect">
              <a:avLst/>
            </a:prstGeom>
            <a:solidFill>
              <a:srgbClr val="4A3FB5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500" b="1">
                  <a:solidFill>
                    <a:srgbClr val="FFFFFF"/>
                  </a:solidFill>
                  <a:latin typeface="Inter"/>
                </a:rPr>
                <a:t>Collaborate</a:t>
              </a:r>
              <a:endParaRPr lang="en-US" sz="1800"/>
            </a:p>
          </p:txBody>
        </p:sp>
        <p:sp>
          <p:nvSpPr>
            <p:cNvPr id="9" name="Layout stage"/>
            <p:cNvSpPr txBox="1"/>
            <p:nvPr/>
          </p:nvSpPr>
          <p:spPr>
            <a:xfrm>
              <a:off x="5334000" y="0"/>
              <a:ext cx="2377440" cy="914400"/>
            </a:xfrm>
            <a:prstGeom prst="roundRect">
              <a:avLst/>
            </a:prstGeom>
            <a:solidFill>
              <a:srgbClr val="2B8A7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500" b="1">
                  <a:solidFill>
                    <a:srgbClr val="FFFFFF"/>
                  </a:solidFill>
                  <a:latin typeface="Inter"/>
                </a:rPr>
                <a:t>Layout</a:t>
              </a:r>
              <a:endParaRPr lang="en-US" sz="1800"/>
            </a:p>
          </p:txBody>
        </p:sp>
        <p:sp>
          <p:nvSpPr>
            <p:cNvPr id="10" name="Paint stage"/>
            <p:cNvSpPr txBox="1"/>
            <p:nvPr/>
          </p:nvSpPr>
          <p:spPr>
            <a:xfrm>
              <a:off x="8001000" y="0"/>
              <a:ext cx="2362200" cy="914400"/>
            </a:xfrm>
            <a:prstGeom prst="roundRect">
              <a:avLst/>
            </a:prstGeom>
            <a:solidFill>
              <a:srgbClr val="17203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500" b="1">
                  <a:solidFill>
                    <a:srgbClr val="FFFFFF"/>
                  </a:solidFill>
                  <a:latin typeface="Inter"/>
                </a:rPr>
                <a:t>Paint</a:t>
              </a:r>
              <a:endParaRPr lang="en-US"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000" b="1">
                <a:solidFill>
                  <a:srgbClr val="172036"/>
                </a:solidFill>
                <a:latin typeface="Inter"/>
              </a:rPr>
              <a:t>One native pipeline, four durable contracts</a:t>
            </a:r>
            <a:endParaRPr lang="en-US" sz="1800"/>
          </a:p>
        </p:txBody>
      </p:sp>
      <p:graphicFrame>
        <p:nvGraphicFramePr>
          <p:cNvPr id="3" name="Architecture table"/>
          <p:cNvGraphicFramePr/>
          <p:nvPr/>
        </p:nvGraphicFramePr>
        <p:xfrm>
          <a:off x="762000" y="1676400"/>
          <a:ext cx="1066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Inter"/>
                        </a:rPr>
                        <a:t>Layer</a:t>
                      </a:r>
                      <a:endParaRPr lang="en-US" sz="1800"/>
                    </a:p>
                  </a:txBody>
                  <a:tcPr>
                    <a:solidFill>
                      <a:srgbClr val="17203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Inter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solidFill>
                      <a:srgbClr val="17203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Inter"/>
                        </a:rPr>
                        <a:t>Contract</a:t>
                      </a:r>
                      <a:endParaRPr lang="en-US" sz="1800"/>
                    </a:p>
                  </a:txBody>
                  <a:tcPr>
                    <a:solidFill>
                      <a:srgbClr val="17203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Inter"/>
                        </a:rPr>
                        <a:t>Result</a:t>
                      </a:r>
                      <a:endParaRPr lang="en-US" sz="1800"/>
                    </a:p>
                  </a:txBody>
                  <a:tcPr>
                    <a:solidFill>
                      <a:srgbClr val="17203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Inter"/>
                        </a:rPr>
                        <a:t>Boundary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OPC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Inter"/>
                        </a:rPr>
                        <a:t>Model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Inter"/>
                        </a:rPr>
                        <a:t>Editing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CRDT deck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solidFill>
                      <a:srgbClr val="F4F3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Inter"/>
                        </a:rPr>
                        <a:t>Output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Inter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/>
              </a:tr>
            </a:tbl>
          </a:graphicData>
        </a:graphic>
      </p:graphicFrame>
      <p:sp>
        <p:nvSpPr>
          <p:cNvPr id="4" name="Footer statement"/>
          <p:cNvSpPr txBox="1"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ctr" lvl="0"/>
            <a:r>
              <a:rPr lang="en-US" sz="1500" i="1">
                <a:solidFill>
                  <a:srgbClr val="5C6478"/>
                </a:solidFill>
                <a:latin typeface="Inter"/>
              </a:rPr>
              <a:t>TypeScript loads the module, decodes the boundary, and replays the display list.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000" b="1">
                <a:solidFill>
                  <a:srgbClr val="172036"/>
                </a:solidFill>
                <a:latin typeface="Inter"/>
              </a:rPr>
              <a:t>Collaboration is a model property</a:t>
            </a:r>
            <a:endParaRPr lang="en-US" sz="1800"/>
          </a:p>
        </p:txBody>
      </p:sp>
      <p:sp>
        <p:nvSpPr>
          <p:cNvPr id="3" name="Local first"/>
          <p:cNvSpPr txBox="1"/>
          <p:nvPr/>
        </p:nvSpPr>
        <p:spPr>
          <a:xfrm>
            <a:off x="914400" y="1676400"/>
            <a:ext cx="3200400" cy="259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D5FF"/>
            </a:solidFill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2000" b="1">
                <a:solidFill>
                  <a:srgbClr val="6254E7"/>
                </a:solidFill>
                <a:latin typeface="Inter"/>
              </a:rPr>
              <a:t>01  Local first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Every keystroke edits the resident deck model.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Undo is scoped to the local origin.</a:t>
            </a:r>
            <a:endParaRPr lang="en-US" sz="1800"/>
          </a:p>
        </p:txBody>
      </p:sp>
      <p:sp>
        <p:nvSpPr>
          <p:cNvPr id="4" name="Exchange updates"/>
          <p:cNvSpPr txBox="1"/>
          <p:nvPr/>
        </p:nvSpPr>
        <p:spPr>
          <a:xfrm>
            <a:off x="4495800" y="1676400"/>
            <a:ext cx="3200400" cy="259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E8DF"/>
            </a:solidFill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2000" b="1">
                <a:solidFill>
                  <a:srgbClr val="2B8A78"/>
                </a:solidFill>
                <a:latin typeface="Inter"/>
              </a:rPr>
              <a:t>02  Exchange updates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Replicas send compact binary updates.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State vectors request only missing work.</a:t>
            </a:r>
            <a:endParaRPr lang="en-US" sz="1800"/>
          </a:p>
        </p:txBody>
      </p:sp>
      <p:sp>
        <p:nvSpPr>
          <p:cNvPr id="5" name="Converge"/>
          <p:cNvSpPr txBox="1"/>
          <p:nvPr/>
        </p:nvSpPr>
        <p:spPr>
          <a:xfrm>
            <a:off x="8077200" y="1676400"/>
            <a:ext cx="3200400" cy="259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D0C3"/>
            </a:solidFill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2000" b="1">
                <a:solidFill>
                  <a:srgbClr val="C65A2E"/>
                </a:solidFill>
                <a:latin typeface="Inter"/>
              </a:rPr>
              <a:t>03  Converge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Slide order and text settle together.</a:t>
            </a:r>
            <a:endParaRPr lang="en-US" sz="1800"/>
          </a:p>
          <a:p>
            <a:pPr algn="l" lvl="0">
              <a:buChar char="•"/>
            </a:pPr>
            <a:r>
              <a:rPr lang="en-US" sz="1700">
                <a:solidFill>
                  <a:srgbClr val="172036"/>
                </a:solidFill>
                <a:latin typeface="Inter"/>
              </a:rPr>
              <a:t>Rust reflows the same result everywhere.</a:t>
            </a:r>
            <a:endParaRPr lang="en-US" sz="1800"/>
          </a:p>
        </p:txBody>
      </p:sp>
      <p:sp>
        <p:nvSpPr>
          <p:cNvPr id="6" name="Closing statement"/>
          <p:cNvSpPr txBox="1"/>
          <p:nvPr/>
        </p:nvSpPr>
        <p:spPr>
          <a:xfrm>
            <a:off x="1524000" y="4876800"/>
            <a:ext cx="9144000" cy="1066800"/>
          </a:xfrm>
          <a:prstGeom prst="roundRect">
            <a:avLst/>
          </a:prstGeom>
          <a:solidFill>
            <a:srgbClr val="6254E7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2200" b="1">
                <a:solidFill>
                  <a:srgbClr val="FFFFFF"/>
                </a:solidFill>
                <a:latin typeface="Inter"/>
              </a:rPr>
              <a:t>The deck is collaborative before the first toolbar button exists.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72036"/>
      </a:dk1>
      <a:lt1>
        <a:srgbClr val="FFFFFF"/>
      </a:lt1>
      <a:dk2>
        <a:srgbClr val="241E52"/>
      </a:dk2>
      <a:lt2>
        <a:srgbClr val="F7F8FC"/>
      </a:lt2>
      <a:accent1>
        <a:srgbClr val="6254E7"/>
      </a:accent1>
      <a:accent2>
        <a:srgbClr val="2B8A78"/>
      </a:accent2>
      <a:accent3>
        <a:srgbClr val="C65A2E"/>
      </a:accent3>
      <a:accent4>
        <a:srgbClr val="4A3FB5"/>
      </a:accent4>
      <a:accent5>
        <a:srgbClr val="D9D5FF"/>
      </a:accent5>
      <a:accent6>
        <a:srgbClr val="5C6478"/>
      </a:accent6>
      <a:hlink>
        <a:srgbClr val="6254E7"/>
      </a:hlink>
      <a:folHlink>
        <a:srgbClr val="4A3FB5"/>
      </a:folHlink>
    </a:clrScheme>
    <a:fontScheme name="Better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BetterOffice">
      <a:fillStyleLst>
        <a:solidFill>
          <a:schemeClr val="phClr"/>
        </a:solidFill>
      </a:fillStyleLst>
      <a:lnStyleLst>
        <a:ln w="190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Rust-native collaborative slides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