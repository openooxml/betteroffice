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etterOffice Blank" preserve="1">
  <p:cSld name="BetterOffice 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etterOffice Mast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oter rule"/>
          <p:cNvSpPr/>
          <p:nvPr/>
        </p:nvSpPr>
        <p:spPr>
          <a:xfrm>
            <a:off x="762000" y="6248400"/>
            <a:ext cx="10668000" cy="15240"/>
          </a:xfrm>
          <a:prstGeom prst="rect">
            <a:avLst/>
          </a:prstGeom>
          <a:solidFill>
            <a:srgbClr val="D0D5DD"/>
          </a:solidFill>
          <a:ln>
            <a:noFill/>
          </a:ln>
        </p:spPr>
      </p:sp>
      <p:sp>
        <p:nvSpPr>
          <p:cNvPr id="3" name="Brand"/>
          <p:cNvSpPr txBox="1"/>
          <p:nvPr/>
        </p:nvSpPr>
        <p:spPr>
          <a:xfrm>
            <a:off x="762000" y="63246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00" b="1">
                <a:solidFill>
                  <a:srgbClr val="101828"/>
                </a:solidFill>
                <a:latin typeface="Arial"/>
              </a:rPr>
              <a:t>betteroffice</a:t>
            </a:r>
            <a:endParaRPr lang="en-US" sz="1800"/>
          </a:p>
        </p:txBody>
      </p:sp>
      <p:sp>
        <p:nvSpPr>
          <p:cNvPr id="4" name="Open OOXML label"/>
          <p:cNvSpPr txBox="1"/>
          <p:nvPr/>
        </p:nvSpPr>
        <p:spPr>
          <a:xfrm>
            <a:off x="8382000" y="63246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r" lvl="0"/>
            <a:r>
              <a:rPr lang="en-US" sz="800" b="1">
                <a:solidFill>
                  <a:srgbClr val="667085"/>
                </a:solidFill>
                <a:latin typeface="Arial"/>
              </a:rPr>
              <a:t>OPEN OOXML  /  LOCAL-FIRST</a:t>
            </a:r>
            <a:endParaRPr lang="en-US" sz="1800"/>
          </a:p>
        </p:txBody>
      </p:sp>
    </p:spTree>
  </p:cSld>
  <p:clrMap accent1="accent1" accent2="accent2" accent3="accent3" accent4="accent4" accent5="accent5" accent6="accent6" hlink="hlink" folHlink="folHlink" bg1="lt1" tx1="dk1" bg2="lt2" tx2="dk2"/>
  <p:sldLayoutIdLst>
    <p:sldLayoutId id="2147483649" r:id="rId1"/>
  </p:sldLayoutIdLst>
  <p:txStyles>
    <p:titleStyle>
      <a:lvl1pPr algn="l">
        <a:defRPr sz="3200" b="1">
          <a:solidFill>
            <a:schemeClr val="dk1"/>
          </a:solidFill>
          <a:latin typeface="+mj-lt"/>
        </a:defRPr>
      </a:lvl1pPr>
    </p:titleStyle>
    <p:bodyStyle>
      <a:lvl1pPr marL="342900" indent="-342900">
        <a:buChar char="•"/>
        <a:defRPr sz="1800">
          <a:solidFill>
            <a:schemeClr val="dk1"/>
          </a:solidFill>
          <a:latin typeface="+mn-lt"/>
        </a:defRPr>
      </a:lvl1pPr>
    </p:bodyStyle>
    <p:otherStyle>
      <a:lvl1pPr>
        <a:defRPr sz="1800"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etteroffice-mark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ide Chevron Default"/>
          <p:cNvSpPr/>
          <p:nvPr/>
        </p:nvSpPr>
        <p:spPr>
          <a:xfrm>
            <a:off x="95250" y="95250"/>
            <a:ext cx="1631633" cy="529590"/>
          </a:xfrm>
          <a:prstGeom prst="chevron">
            <a:avLst/>
          </a:prstGeom>
          <a:solidFill>
            <a:srgbClr val="FF0000"/>
          </a:solidFill>
          <a:ln>
            <a:noFill/>
          </a:ln>
        </p:spPr>
      </p:sp>
      <p:sp>
        <p:nvSpPr>
          <p:cNvPr id="3" name="Wide Chevron Adj25"/>
          <p:cNvSpPr/>
          <p:nvPr/>
        </p:nvSpPr>
        <p:spPr>
          <a:xfrm>
            <a:off x="1905000" y="95250"/>
            <a:ext cx="1631633" cy="529590"/>
          </a:xfrm>
          <a:prstGeom prst="chevron">
            <a:avLst>
              <a:gd name="adj" fmla="val 25000"/>
            </a:avLst>
          </a:prstGeom>
          <a:solidFill>
            <a:srgbClr val="00AA00"/>
          </a:solidFill>
          <a:ln>
            <a:noFill/>
          </a:ln>
        </p:spPr>
      </p:sp>
      <p:sp>
        <p:nvSpPr>
          <p:cNvPr id="4" name="Wide HomePlate Default"/>
          <p:cNvSpPr/>
          <p:nvPr/>
        </p:nvSpPr>
        <p:spPr>
          <a:xfrm>
            <a:off x="95250" y="952500"/>
            <a:ext cx="2675573" cy="357188"/>
          </a:xfrm>
          <a:prstGeom prst="homePlate">
            <a:avLst/>
          </a:prstGeom>
          <a:solidFill>
            <a:srgbClr val="0000FF"/>
          </a:solidFill>
          <a:ln>
            <a:noFill/>
          </a:ln>
        </p:spPr>
      </p:sp>
      <p:sp>
        <p:nvSpPr>
          <p:cNvPr id="5" name="Wide HomePlate Adj25"/>
          <p:cNvSpPr/>
          <p:nvPr/>
        </p:nvSpPr>
        <p:spPr>
          <a:xfrm>
            <a:off x="2952750" y="952500"/>
            <a:ext cx="2675573" cy="357188"/>
          </a:xfrm>
          <a:prstGeom prst="homePlate">
            <a:avLst>
              <a:gd name="adj" fmla="val 25000"/>
            </a:avLst>
          </a:prstGeom>
          <a:solidFill>
            <a:srgbClr val="FF00FF"/>
          </a:solidFill>
          <a:ln>
            <a:noFill/>
          </a:ln>
        </p:spPr>
      </p:sp>
      <p:sp>
        <p:nvSpPr>
          <p:cNvPr id="6" name="Square Chevron Adj25"/>
          <p:cNvSpPr/>
          <p:nvPr/>
        </p:nvSpPr>
        <p:spPr>
          <a:xfrm>
            <a:off x="95250" y="1905000"/>
            <a:ext cx="952500" cy="952500"/>
          </a:xfrm>
          <a:prstGeom prst="chevron">
            <a:avLst>
              <a:gd name="adj" fmla="val 25000"/>
            </a:avLst>
          </a:prstGeom>
          <a:solidFill>
            <a:srgbClr val="00FFFF"/>
          </a:solidFill>
          <a:ln>
            <a:noFill/>
          </a:ln>
        </p:spPr>
      </p:sp>
      <p:sp>
        <p:nvSpPr>
          <p:cNvPr id="7" name="Square Chevron Default"/>
          <p:cNvSpPr/>
          <p:nvPr/>
        </p:nvSpPr>
        <p:spPr>
          <a:xfrm>
            <a:off x="1238250" y="1905000"/>
            <a:ext cx="952500" cy="952500"/>
          </a:xfrm>
          <a:prstGeom prst="chevron">
            <a:avLst/>
          </a:prstGeom>
          <a:solidFill>
            <a:srgbClr val="FFA500"/>
          </a:solidFill>
          <a:ln>
            <a:noFill/>
          </a:ln>
        </p:spPr>
      </p:sp>
      <p:sp>
        <p:nvSpPr>
          <p:cNvPr id="8" name="Square HomePlate Adj75"/>
          <p:cNvSpPr/>
          <p:nvPr/>
        </p:nvSpPr>
        <p:spPr>
          <a:xfrm>
            <a:off x="2381250" y="1905000"/>
            <a:ext cx="952500" cy="952500"/>
          </a:xfrm>
          <a:prstGeom prst="homePlate">
            <a:avLst>
              <a:gd name="adj" fmla="val 75000"/>
            </a:avLst>
          </a:prstGeom>
          <a:solidFill>
            <a:srgbClr val="663399"/>
          </a:solidFill>
          <a:ln>
            <a:noFill/>
          </a:ln>
        </p:spPr>
      </p:sp>
      <p:sp>
        <p:nvSpPr>
          <p:cNvPr id="9" name="Wide Chevron Adj200"/>
          <p:cNvSpPr/>
          <p:nvPr/>
        </p:nvSpPr>
        <p:spPr>
          <a:xfrm>
            <a:off x="95250" y="3000000"/>
            <a:ext cx="1905000" cy="476250"/>
          </a:xfrm>
          <a:prstGeom prst="chevron">
            <a:avLst>
              <a:gd name="adj" fmla="val 200000"/>
            </a:avLst>
          </a:prstGeom>
          <a:solidFill>
            <a:srgbClr val="008080"/>
          </a:solidFill>
          <a:ln>
            <a:noFill/>
          </a:ln>
        </p:spPr>
      </p:sp>
      <p:sp>
        <p:nvSpPr>
          <p:cNvPr id="10" name="Wide HomePlate Adj200"/>
          <p:cNvSpPr/>
          <p:nvPr/>
        </p:nvSpPr>
        <p:spPr>
          <a:xfrm>
            <a:off x="2100000" y="3000000"/>
            <a:ext cx="1905000" cy="476250"/>
          </a:xfrm>
          <a:prstGeom prst="homePlate">
            <a:avLst>
              <a:gd name="adj" fmla="val 200000"/>
            </a:avLst>
          </a:prstGeom>
          <a:solidFill>
            <a:srgbClr val="800000"/>
          </a:solidFill>
          <a:ln>
            <a:noFill/>
          </a:ln>
        </p:spPr>
      </p:sp>
      <p:sp>
        <p:nvSpPr>
          <p:cNvPr id="11" name="Wide Chevron Adj600"/>
          <p:cNvSpPr/>
          <p:nvPr/>
        </p:nvSpPr>
        <p:spPr>
          <a:xfrm>
            <a:off x="4200000" y="3000000"/>
            <a:ext cx="1905000" cy="476250"/>
          </a:xfrm>
          <a:prstGeom prst="chevron">
            <a:avLst>
              <a:gd name="adj" fmla="val 600000"/>
            </a:avLst>
          </a:prstGeom>
          <a:solidFill>
            <a:srgbClr val="808000"/>
          </a:solidFill>
          <a:ln>
            <a:noFill/>
          </a:ln>
        </p:spPr>
      </p:sp>
      <p:sp>
        <p:nvSpPr>
          <p:cNvPr id="12" name="Tall HomePlate Adj200"/>
          <p:cNvSpPr/>
          <p:nvPr/>
        </p:nvSpPr>
        <p:spPr>
          <a:xfrm>
            <a:off x="6300000" y="3000000"/>
            <a:ext cx="476250" cy="1905000"/>
          </a:xfrm>
          <a:prstGeom prst="homePlate">
            <a:avLst>
              <a:gd name="adj" fmla="val 200000"/>
            </a:avLst>
          </a:prstGeom>
          <a:solidFill>
            <a:srgbClr val="000080"/>
          </a:solidFill>
          <a:ln>
            <a:noFill/>
          </a:ln>
        </p:spPr>
      </p:sp>
      <p:sp>
        <p:nvSpPr>
          <p:cNvPr id="13" name="Square Chevron Adj75"/>
          <p:cNvSpPr/>
          <p:nvPr/>
        </p:nvSpPr>
        <p:spPr>
          <a:xfrm>
            <a:off x="7610475" y="1905000"/>
            <a:ext cx="952500" cy="952500"/>
          </a:xfrm>
          <a:prstGeom prst="chevron">
            <a:avLst>
              <a:gd name="adj" fmla="val 75000"/>
            </a:avLst>
          </a:prstGeom>
          <a:solidFill>
            <a:srgbClr val="CC0066"/>
          </a:solidFill>
          <a:ln>
            <a:noFill/>
          </a:ln>
        </p:spPr>
      </p:sp>
      <p:sp>
        <p:nvSpPr>
          <p:cNvPr id="14" name="Control rect Adj25"/>
          <p:cNvSpPr/>
          <p:nvPr/>
        </p:nvSpPr>
        <p:spPr>
          <a:xfrm>
            <a:off x="95250" y="5334000"/>
            <a:ext cx="952500" cy="476250"/>
          </a:xfrm>
          <a:prstGeom prst="rect">
            <a:avLst>
              <a:gd name="adj" fmla="val 25000"/>
            </a:avLst>
          </a:prstGeom>
          <a:solidFill>
            <a:srgbClr val="663399"/>
          </a:solidFill>
          <a:ln>
            <a:noFill/>
          </a:ln>
        </p:spPr>
      </p:sp>
      <p:sp>
        <p:nvSpPr>
          <p:cNvPr id="15" name="Control roundRect Adj25"/>
          <p:cNvSpPr/>
          <p:nvPr/>
        </p:nvSpPr>
        <p:spPr>
          <a:xfrm>
            <a:off x="1095375" y="5334000"/>
            <a:ext cx="952500" cy="476250"/>
          </a:xfrm>
          <a:prstGeom prst="roundRect">
            <a:avLst>
              <a:gd name="adj" fmla="val 25000"/>
            </a:avLst>
          </a:prstGeom>
          <a:solidFill>
            <a:srgbClr val="663399"/>
          </a:solidFill>
          <a:ln>
            <a:noFill/>
          </a:ln>
        </p:spPr>
      </p:sp>
      <p:sp>
        <p:nvSpPr>
          <p:cNvPr id="16" name="Control triangle Adj25"/>
          <p:cNvSpPr/>
          <p:nvPr/>
        </p:nvSpPr>
        <p:spPr>
          <a:xfrm>
            <a:off x="2095500" y="5334000"/>
            <a:ext cx="952500" cy="476250"/>
          </a:xfrm>
          <a:prstGeom prst="triangle">
            <a:avLst>
              <a:gd name="adj" fmla="val 25000"/>
            </a:avLst>
          </a:prstGeom>
          <a:solidFill>
            <a:srgbClr val="663399"/>
          </a:solidFill>
          <a:ln>
            <a:noFill/>
          </a:ln>
        </p:spPr>
      </p:sp>
      <p:sp>
        <p:nvSpPr>
          <p:cNvPr id="17" name="Control parallelogram Adj25"/>
          <p:cNvSpPr/>
          <p:nvPr/>
        </p:nvSpPr>
        <p:spPr>
          <a:xfrm>
            <a:off x="3095625" y="5334000"/>
            <a:ext cx="952500" cy="476250"/>
          </a:xfrm>
          <a:prstGeom prst="parallelogram">
            <a:avLst>
              <a:gd name="adj" fmla="val 25000"/>
            </a:avLst>
          </a:prstGeom>
          <a:solidFill>
            <a:srgbClr val="663399"/>
          </a:solidFill>
          <a:ln>
            <a:noFill/>
          </a:ln>
        </p:spPr>
      </p:sp>
      <p:sp>
        <p:nvSpPr>
          <p:cNvPr id="18" name="Control trapezoid Adj25"/>
          <p:cNvSpPr/>
          <p:nvPr/>
        </p:nvSpPr>
        <p:spPr>
          <a:xfrm>
            <a:off x="4095750" y="5334000"/>
            <a:ext cx="952500" cy="476250"/>
          </a:xfrm>
          <a:prstGeom prst="trapezoid">
            <a:avLst>
              <a:gd name="adj" fmla="val 25000"/>
            </a:avLst>
          </a:prstGeom>
          <a:solidFill>
            <a:srgbClr val="663399"/>
          </a:solidFill>
          <a:ln>
            <a:noFill/>
          </a:ln>
        </p:spPr>
      </p:sp>
      <p:sp>
        <p:nvSpPr>
          <p:cNvPr id="19" name="Control hexagon Adj25"/>
          <p:cNvSpPr/>
          <p:nvPr/>
        </p:nvSpPr>
        <p:spPr>
          <a:xfrm>
            <a:off x="5095875" y="5334000"/>
            <a:ext cx="952500" cy="476250"/>
          </a:xfrm>
          <a:prstGeom prst="hexagon">
            <a:avLst>
              <a:gd name="adj" fmla="val 25000"/>
            </a:avLst>
          </a:prstGeom>
          <a:solidFill>
            <a:srgbClr val="663399"/>
          </a:solidFill>
          <a:ln>
            <a:noFill/>
          </a:ln>
        </p:spPr>
      </p:sp>
      <p:sp>
        <p:nvSpPr>
          <p:cNvPr id="20" name="Control octagon Adj25"/>
          <p:cNvSpPr/>
          <p:nvPr/>
        </p:nvSpPr>
        <p:spPr>
          <a:xfrm>
            <a:off x="6096000" y="5334000"/>
            <a:ext cx="952500" cy="476250"/>
          </a:xfrm>
          <a:prstGeom prst="octagon">
            <a:avLst>
              <a:gd name="adj" fmla="val 25000"/>
            </a:avLst>
          </a:prstGeom>
          <a:solidFill>
            <a:srgbClr val="663399"/>
          </a:solidFill>
          <a:ln>
            <a:noFill/>
          </a:ln>
        </p:spPr>
      </p:sp>
      <p:sp>
        <p:nvSpPr>
          <p:cNvPr id="21" name="Control rightArrow Adj25"/>
          <p:cNvSpPr/>
          <p:nvPr/>
        </p:nvSpPr>
        <p:spPr>
          <a:xfrm>
            <a:off x="7096125" y="5334000"/>
            <a:ext cx="952500" cy="476250"/>
          </a:xfrm>
          <a:prstGeom prst="rightArrow">
            <a:avLst>
              <a:gd name="adj" fmla="val 25000"/>
            </a:avLst>
          </a:prstGeom>
          <a:solidFill>
            <a:srgbClr val="663399"/>
          </a:solidFill>
          <a:ln>
            <a:noFill/>
          </a:ln>
        </p:spPr>
      </p:sp>
      <p:sp>
        <p:nvSpPr>
          <p:cNvPr id="22" name="Control star5 Adj25"/>
          <p:cNvSpPr/>
          <p:nvPr/>
        </p:nvSpPr>
        <p:spPr>
          <a:xfrm>
            <a:off x="8096250" y="5334000"/>
            <a:ext cx="952500" cy="476250"/>
          </a:xfrm>
          <a:prstGeom prst="star5">
            <a:avLst>
              <a:gd name="adj" fmla="val 25000"/>
            </a:avLst>
          </a:prstGeom>
          <a:solidFill>
            <a:srgbClr val="663399"/>
          </a:solidFill>
          <a:ln>
            <a:noFill/>
          </a:ln>
        </p:spPr>
      </p:sp>
      <p:sp>
        <p:nvSpPr>
          <p:cNvPr id="23" name="Control bentConnector3 Adj25"/>
          <p:cNvSpPr/>
          <p:nvPr/>
        </p:nvSpPr>
        <p:spPr>
          <a:xfrm>
            <a:off x="9096375" y="5334000"/>
            <a:ext cx="952500" cy="476250"/>
          </a:xfrm>
          <a:prstGeom prst="bentConnector3">
            <a:avLst>
              <a:gd name="adj" fmla="val 25000"/>
            </a:avLst>
          </a:prstGeom>
          <a:solidFill>
            <a:srgbClr val="663399"/>
          </a:solid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accent"/>
          <p:cNvSpPr/>
          <p:nvPr/>
        </p:nvSpPr>
        <p:spPr>
          <a:xfrm>
            <a:off x="762000" y="533400"/>
            <a:ext cx="99060" cy="457200"/>
          </a:xfrm>
          <a:prstGeom prst="roundRect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3" name="Section label"/>
          <p:cNvSpPr txBox="1"/>
          <p:nvPr/>
        </p:nvSpPr>
        <p:spPr>
          <a:xfrm>
            <a:off x="990600" y="510540"/>
            <a:ext cx="25146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50" b="1">
                <a:solidFill>
                  <a:srgbClr val="315EFB"/>
                </a:solidFill>
                <a:latin typeface="Arial"/>
              </a:rPr>
              <a:t>ONE NATIVE STACK</a:t>
            </a:r>
            <a:endParaRPr lang="en-US" sz="1800"/>
          </a:p>
        </p:txBody>
      </p:sp>
      <p:sp>
        <p:nvSpPr>
          <p:cNvPr id="4" name="Title"/>
          <p:cNvSpPr txBox="1"/>
          <p:nvPr/>
        </p:nvSpPr>
        <p:spPr>
          <a:xfrm>
            <a:off x="762000" y="9906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3200" b="1">
                <a:solidFill>
                  <a:srgbClr val="101828"/>
                </a:solidFill>
                <a:latin typeface="Arial"/>
              </a:rPr>
              <a:t>Three formats. One resident engine.</a:t>
            </a:r>
            <a:endParaRPr lang="en-US" sz="1800"/>
          </a:p>
        </p:txBody>
      </p:sp>
      <p:sp>
        <p:nvSpPr>
          <p:cNvPr id="5" name="Subtitle"/>
          <p:cNvSpPr txBox="1"/>
          <p:nvPr/>
        </p:nvSpPr>
        <p:spPr>
          <a:xfrm>
            <a:off x="762000" y="1676400"/>
            <a:ext cx="9144000" cy="5334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400">
                <a:solidFill>
                  <a:srgbClr val="667085"/>
                </a:solidFill>
                <a:latin typeface="Arial"/>
              </a:rPr>
              <a:t>No conversions. No round-trips. Every edit stays inside the file model.</a:t>
            </a:r>
            <a:endParaRPr lang="en-US" sz="1800"/>
          </a:p>
        </p:txBody>
      </p:sp>
      <p:sp>
        <p:nvSpPr>
          <p:cNvPr id="6" name="Format connector"/>
          <p:cNvSpPr/>
          <p:nvPr/>
        </p:nvSpPr>
        <p:spPr>
          <a:xfrm>
            <a:off x="2133600" y="3261360"/>
            <a:ext cx="7894320" cy="22860"/>
          </a:xfrm>
          <a:prstGeom prst="rect">
            <a:avLst/>
          </a:prstGeom>
          <a:solidFill>
            <a:srgbClr val="D0D5DD"/>
          </a:solidFill>
          <a:ln>
            <a:noFill/>
          </a:ln>
        </p:spPr>
      </p:sp>
      <p:sp>
        <p:nvSpPr>
          <p:cNvPr id="7" name="DOCX card"/>
          <p:cNvSpPr txBox="1"/>
          <p:nvPr/>
        </p:nvSpPr>
        <p:spPr>
          <a:xfrm>
            <a:off x="762000" y="2286000"/>
            <a:ext cx="3200400" cy="99060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C7D1FF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800" b="1">
                <a:solidFill>
                  <a:srgbClr val="315EFB"/>
                </a:solidFill>
                <a:latin typeface="Arial"/>
              </a:rPr>
              <a:t>DOCX</a:t>
            </a:r>
            <a:endParaRPr lang="en-US" sz="1800"/>
          </a:p>
          <a:p>
            <a:pPr algn="l" lvl="0"/>
            <a:r>
              <a:rPr lang="en-US" sz="1050" b="1">
                <a:solidFill>
                  <a:srgbClr val="475467"/>
                </a:solidFill>
                <a:latin typeface="Arial"/>
              </a:rPr>
              <a:t>flow layout</a:t>
            </a:r>
            <a:endParaRPr lang="en-US" sz="1800"/>
          </a:p>
        </p:txBody>
      </p:sp>
      <p:sp>
        <p:nvSpPr>
          <p:cNvPr id="8" name="XLSX card"/>
          <p:cNvSpPr txBox="1"/>
          <p:nvPr/>
        </p:nvSpPr>
        <p:spPr>
          <a:xfrm>
            <a:off x="4495800" y="2286000"/>
            <a:ext cx="3200400" cy="990600"/>
          </a:xfrm>
          <a:prstGeom prst="roundRect">
            <a:avLst/>
          </a:prstGeom>
          <a:solidFill>
            <a:srgbClr val="E7F8EF"/>
          </a:solidFill>
          <a:ln w="19050">
            <a:solidFill>
              <a:srgbClr val="B7E7D0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800" b="1">
                <a:solidFill>
                  <a:srgbClr val="16825D"/>
                </a:solidFill>
                <a:latin typeface="Arial"/>
              </a:rPr>
              <a:t>XLSX</a:t>
            </a:r>
            <a:endParaRPr lang="en-US" sz="1800"/>
          </a:p>
          <a:p>
            <a:pPr algn="l" lvl="0"/>
            <a:r>
              <a:rPr lang="en-US" sz="1050" b="1">
                <a:solidFill>
                  <a:srgbClr val="475467"/>
                </a:solidFill>
                <a:latin typeface="Arial"/>
              </a:rPr>
              <a:t>calculation grid</a:t>
            </a:r>
            <a:endParaRPr lang="en-US" sz="1800"/>
          </a:p>
        </p:txBody>
      </p:sp>
      <p:sp>
        <p:nvSpPr>
          <p:cNvPr id="9" name="PPTX card"/>
          <p:cNvSpPr txBox="1"/>
          <p:nvPr/>
        </p:nvSpPr>
        <p:spPr>
          <a:xfrm>
            <a:off x="8229600" y="2286000"/>
            <a:ext cx="3200400" cy="990600"/>
          </a:xfrm>
          <a:prstGeom prst="roundRect">
            <a:avLst/>
          </a:prstGeom>
          <a:solidFill>
            <a:srgbClr val="FFF0EA"/>
          </a:solidFill>
          <a:ln w="19050">
            <a:solidFill>
              <a:srgbClr val="FFD0C4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800" b="1">
                <a:solidFill>
                  <a:srgbClr val="D94F35"/>
                </a:solidFill>
                <a:latin typeface="Arial"/>
              </a:rPr>
              <a:t>PPTX</a:t>
            </a:r>
            <a:endParaRPr lang="en-US" sz="1800"/>
          </a:p>
          <a:p>
            <a:pPr algn="l" lvl="0"/>
            <a:r>
              <a:rPr lang="en-US" sz="1050" b="1">
                <a:solidFill>
                  <a:srgbClr val="475467"/>
                </a:solidFill>
                <a:latin typeface="Arial"/>
              </a:rPr>
              <a:t>slide canvas</a:t>
            </a:r>
            <a:endParaRPr lang="en-US" sz="1800"/>
          </a:p>
        </p:txBody>
      </p:sp>
      <p:sp>
        <p:nvSpPr>
          <p:cNvPr id="10" name="Engine panel"/>
          <p:cNvSpPr/>
          <p:nvPr/>
        </p:nvSpPr>
        <p:spPr>
          <a:xfrm>
            <a:off x="762000" y="3657600"/>
            <a:ext cx="10668000" cy="2438400"/>
          </a:xfrm>
          <a:prstGeom prst="roundRect">
            <a:avLst/>
          </a:prstGeom>
          <a:solidFill>
            <a:srgbClr val="101828"/>
          </a:solidFill>
          <a:ln>
            <a:noFill/>
          </a:ln>
        </p:spPr>
      </p:sp>
      <p:sp>
        <p:nvSpPr>
          <p:cNvPr id="11" name="Engine label"/>
          <p:cNvSpPr txBox="1"/>
          <p:nvPr/>
        </p:nvSpPr>
        <p:spPr>
          <a:xfrm>
            <a:off x="1066800" y="3886200"/>
            <a:ext cx="35052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50" b="1">
                <a:solidFill>
                  <a:srgbClr val="C8F56A"/>
                </a:solidFill>
                <a:latin typeface="Arial"/>
              </a:rPr>
              <a:t>RUST CORE  /  ONE MODEL</a:t>
            </a:r>
            <a:endParaRPr lang="en-US" sz="1800"/>
          </a:p>
        </p:txBody>
      </p:sp>
      <p:sp>
        <p:nvSpPr>
          <p:cNvPr id="12" name="Parse contract"/>
          <p:cNvSpPr txBox="1"/>
          <p:nvPr/>
        </p:nvSpPr>
        <p:spPr>
          <a:xfrm>
            <a:off x="1066800" y="4495800"/>
            <a:ext cx="2057400" cy="990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 b="1">
                <a:solidFill>
                  <a:srgbClr val="C8F56A"/>
                </a:solidFill>
                <a:latin typeface="Arial"/>
              </a:rPr>
              <a:t>PARSE</a:t>
            </a:r>
            <a:endParaRPr lang="en-US" sz="1800"/>
          </a:p>
          <a:p>
            <a:pPr algn="l" lvl="0"/>
            <a:r>
              <a:rPr lang="en-US" sz="1050">
                <a:solidFill>
                  <a:srgbClr val="D0D5DD"/>
                </a:solidFill>
                <a:latin typeface="Arial"/>
              </a:rPr>
              <a:t>guarded OPC parts</a:t>
            </a:r>
            <a:endParaRPr lang="en-US" sz="1800"/>
          </a:p>
        </p:txBody>
      </p:sp>
      <p:sp>
        <p:nvSpPr>
          <p:cNvPr id="13" name="Model contract"/>
          <p:cNvSpPr txBox="1"/>
          <p:nvPr/>
        </p:nvSpPr>
        <p:spPr>
          <a:xfrm>
            <a:off x="3657600" y="4495800"/>
            <a:ext cx="2057400" cy="990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 b="1">
                <a:solidFill>
                  <a:srgbClr val="8AB4FF"/>
                </a:solidFill>
                <a:latin typeface="Arial"/>
              </a:rPr>
              <a:t>MODEL</a:t>
            </a:r>
            <a:endParaRPr lang="en-US" sz="1800"/>
          </a:p>
          <a:p>
            <a:pPr algn="l" lvl="0"/>
            <a:r>
              <a:rPr lang="en-US" sz="1050">
                <a:solidFill>
                  <a:srgbClr val="D0D5DD"/>
                </a:solidFill>
                <a:latin typeface="Arial"/>
              </a:rPr>
              <a:t>local CRDT state</a:t>
            </a:r>
            <a:endParaRPr lang="en-US" sz="1800"/>
          </a:p>
        </p:txBody>
      </p:sp>
      <p:sp>
        <p:nvSpPr>
          <p:cNvPr id="14" name="Layout contract"/>
          <p:cNvSpPr txBox="1"/>
          <p:nvPr/>
        </p:nvSpPr>
        <p:spPr>
          <a:xfrm>
            <a:off x="6248400" y="4495800"/>
            <a:ext cx="2057400" cy="990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 b="1">
                <a:solidFill>
                  <a:srgbClr val="FF8066"/>
                </a:solidFill>
                <a:latin typeface="Arial"/>
              </a:rPr>
              <a:t>LAYOUT</a:t>
            </a:r>
            <a:endParaRPr lang="en-US" sz="1800"/>
          </a:p>
          <a:p>
            <a:pPr algn="l" lvl="0"/>
            <a:r>
              <a:rPr lang="en-US" sz="1050">
                <a:solidFill>
                  <a:srgbClr val="D0D5DD"/>
                </a:solidFill>
                <a:latin typeface="Arial"/>
              </a:rPr>
              <a:t>shaped text + pixels</a:t>
            </a:r>
            <a:endParaRPr lang="en-US" sz="1800"/>
          </a:p>
        </p:txBody>
      </p:sp>
      <p:sp>
        <p:nvSpPr>
          <p:cNvPr id="15" name="Emit contract"/>
          <p:cNvSpPr txBox="1"/>
          <p:nvPr/>
        </p:nvSpPr>
        <p:spPr>
          <a:xfrm>
            <a:off x="8839200" y="4495800"/>
            <a:ext cx="2057400" cy="9906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 b="1">
                <a:solidFill>
                  <a:srgbClr val="FFD166"/>
                </a:solidFill>
                <a:latin typeface="Arial"/>
              </a:rPr>
              <a:t>EMIT</a:t>
            </a:r>
            <a:endParaRPr lang="en-US" sz="1800"/>
          </a:p>
          <a:p>
            <a:pPr algn="l" lvl="0"/>
            <a:r>
              <a:rPr lang="en-US" sz="1050">
                <a:solidFill>
                  <a:srgbClr val="D0D5DD"/>
                </a:solidFill>
                <a:latin typeface="Arial"/>
              </a:rPr>
              <a:t>OOXML bytes retained</a:t>
            </a:r>
            <a:endParaRPr lang="en-US" sz="1800"/>
          </a:p>
        </p:txBody>
      </p:sp>
      <p:sp>
        <p:nvSpPr>
          <p:cNvPr id="16" name="Panel divider one"/>
          <p:cNvSpPr/>
          <p:nvPr/>
        </p:nvSpPr>
        <p:spPr>
          <a:xfrm>
            <a:off x="3352800" y="4381500"/>
            <a:ext cx="15240" cy="1219200"/>
          </a:xfrm>
          <a:prstGeom prst="rect">
            <a:avLst/>
          </a:prstGeom>
          <a:solidFill>
            <a:srgbClr val="344054"/>
          </a:solidFill>
          <a:ln>
            <a:noFill/>
          </a:ln>
        </p:spPr>
      </p:sp>
      <p:sp>
        <p:nvSpPr>
          <p:cNvPr id="17" name="Panel divider two"/>
          <p:cNvSpPr/>
          <p:nvPr/>
        </p:nvSpPr>
        <p:spPr>
          <a:xfrm>
            <a:off x="5943600" y="4381500"/>
            <a:ext cx="15240" cy="1219200"/>
          </a:xfrm>
          <a:prstGeom prst="rect">
            <a:avLst/>
          </a:prstGeom>
          <a:solidFill>
            <a:srgbClr val="344054"/>
          </a:solidFill>
          <a:ln>
            <a:noFill/>
          </a:ln>
        </p:spPr>
      </p:sp>
      <p:sp>
        <p:nvSpPr>
          <p:cNvPr id="18" name="Panel divider three"/>
          <p:cNvSpPr/>
          <p:nvPr/>
        </p:nvSpPr>
        <p:spPr>
          <a:xfrm>
            <a:off x="8534400" y="4381500"/>
            <a:ext cx="15240" cy="1219200"/>
          </a:xfrm>
          <a:prstGeom prst="rect">
            <a:avLst/>
          </a:prstGeom>
          <a:solidFill>
            <a:srgbClr val="344054"/>
          </a:solidFill>
          <a:ln>
            <a:noFill/>
          </a:ln>
        </p:spPr>
      </p:sp>
      <p:graphicFrame>
        <p:nvGraphicFramePr>
          <p:cNvPr id="90" name="Architecture table fixture"/>
          <p:cNvGraphicFramePr/>
          <p:nvPr/>
        </p:nvGraphicFramePr>
        <p:xfrm>
          <a:off x="12192000" y="6858000"/>
          <a:ext cx="1" cy="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  <a:gridCol w="2438400"/>
                <a:gridCol w="2895600"/>
                <a:gridCol w="3352800"/>
              </a:tblGrid>
              <a:tr h="6096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</a:rPr>
                        <a:t>Layer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</a:rPr>
                        <a:t>Rust owner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</a:rPr>
                        <a:t>Contract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FFFFFF"/>
                          </a:solidFill>
                          <a:latin typeface="Arial"/>
                        </a:rPr>
                        <a:t>Result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2036"/>
                    </a:solidFill>
                  </a:tcPr>
                </a:tc>
                <a:extLst/>
              </a:tr>
              <a:tr h="7620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6254E7"/>
                          </a:solidFill>
                          <a:latin typeface="Arial"/>
                        </a:rPr>
                        <a:t>Boundary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OPC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Guarded parts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No external fetch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extLst/>
              </a:tr>
              <a:tr h="7620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6254E7"/>
                          </a:solidFill>
                          <a:latin typeface="Arial"/>
                        </a:rPr>
                        <a:t>Model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PresentationML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Typed slide tree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Untouched bytes retained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/>
              </a:tr>
              <a:tr h="7620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6254E7"/>
                          </a:solidFill>
                          <a:latin typeface="Arial"/>
                        </a:rPr>
                        <a:t>Editing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CRDT deck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Local-origin undo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Raw update exchange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3FF"/>
                    </a:solidFill>
                  </a:tcPr>
                </a:tc>
                <a:extLst/>
              </a:tr>
              <a:tr h="762000">
                <a:tc>
                  <a:txBody>
                    <a:bodyPr/>
                    <a:lstStyle/>
                    <a:p>
                      <a:pPr algn="ctr" lvl="0"/>
                      <a:r>
                        <a:rPr lang="en-US" sz="1500" b="1">
                          <a:solidFill>
                            <a:srgbClr val="6254E7"/>
                          </a:solidFill>
                          <a:latin typeface="Arial"/>
                        </a:rPr>
                        <a:t>Output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Slide layout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Shaped text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vl="0"/>
                      <a:r>
                        <a:rPr lang="en-US" sz="1500">
                          <a:solidFill>
                            <a:srgbClr val="172036"/>
                          </a:solidFill>
                          <a:latin typeface="Arial"/>
                        </a:rPr>
                        <a:t>Canvas display list</a:t>
                      </a:r>
                      <a:endParaRPr lang="en-US" sz="1800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/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accent"/>
          <p:cNvSpPr/>
          <p:nvPr/>
        </p:nvSpPr>
        <p:spPr>
          <a:xfrm>
            <a:off x="762000" y="533400"/>
            <a:ext cx="99060" cy="457200"/>
          </a:xfrm>
          <a:prstGeom prst="roundRect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3" name="Section label"/>
          <p:cNvSpPr txBox="1"/>
          <p:nvPr/>
        </p:nvSpPr>
        <p:spPr>
          <a:xfrm>
            <a:off x="990600" y="510540"/>
            <a:ext cx="2514600" cy="38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950" b="1">
                <a:solidFill>
                  <a:srgbClr val="315EFB"/>
                </a:solidFill>
                <a:latin typeface="Arial"/>
              </a:rPr>
              <a:t>LIVE COLLABORATION</a:t>
            </a:r>
            <a:endParaRPr lang="en-US" sz="1800"/>
          </a:p>
        </p:txBody>
      </p:sp>
      <p:sp>
        <p:nvSpPr>
          <p:cNvPr id="4" name="Title"/>
          <p:cNvSpPr txBox="1"/>
          <p:nvPr/>
        </p:nvSpPr>
        <p:spPr>
          <a:xfrm>
            <a:off x="762000" y="1066800"/>
            <a:ext cx="5334000" cy="16002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3600" b="1">
                <a:solidFill>
                  <a:srgbClr val="101828"/>
                </a:solidFill>
                <a:latin typeface="Arial"/>
              </a:rPr>
              <a:t>Multiplayer,</a:t>
            </a:r>
            <a:endParaRPr lang="en-US" sz="1800"/>
          </a:p>
          <a:p>
            <a:pPr algn="l" lvl="0"/>
            <a:r>
              <a:rPr lang="en-US" sz="3600" b="1">
                <a:solidFill>
                  <a:srgbClr val="315EFB"/>
                </a:solidFill>
                <a:latin typeface="Arial"/>
              </a:rPr>
              <a:t>minus the server tax.</a:t>
            </a:r>
            <a:endParaRPr lang="en-US" sz="1800"/>
          </a:p>
        </p:txBody>
      </p:sp>
      <p:sp>
        <p:nvSpPr>
          <p:cNvPr id="5" name="Subtitle"/>
          <p:cNvSpPr txBox="1"/>
          <p:nvPr/>
        </p:nvSpPr>
        <p:spPr>
          <a:xfrm>
            <a:off x="762000" y="2667000"/>
            <a:ext cx="5105400" cy="762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500">
                <a:solidFill>
                  <a:srgbClr val="475467"/>
                </a:solidFill>
                <a:latin typeface="Arial"/>
              </a:rPr>
              <a:t>Every keystroke lands locally first. Peers exchange only updates, then converge on the same file.</a:t>
            </a:r>
            <a:endParaRPr lang="en-US" sz="1800"/>
          </a:p>
        </p:txBody>
      </p:sp>
      <p:sp>
        <p:nvSpPr>
          <p:cNvPr id="6" name="Local first step"/>
          <p:cNvSpPr txBox="1"/>
          <p:nvPr/>
        </p:nvSpPr>
        <p:spPr>
          <a:xfrm>
            <a:off x="762000" y="3543300"/>
            <a:ext cx="4953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E0FF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200" b="1">
                <a:solidFill>
                  <a:srgbClr val="315EFB"/>
                </a:solidFill>
                <a:latin typeface="Arial"/>
              </a:rPr>
              <a:t>01</a:t>
            </a:r>
            <a:r>
              <a:rPr lang="en-US" sz="1500" b="1">
                <a:solidFill>
                  <a:srgbClr val="101828"/>
                </a:solidFill>
                <a:latin typeface="Arial"/>
              </a:rPr>
              <a:t>   Edit locally</a:t>
            </a:r>
            <a:endParaRPr lang="en-US" sz="1800"/>
          </a:p>
          <a:p>
            <a:pPr algn="l" lvl="0"/>
            <a:r>
              <a:rPr lang="en-US" sz="1000">
                <a:solidFill>
                  <a:srgbClr val="667085"/>
                </a:solidFill>
                <a:latin typeface="Arial"/>
              </a:rPr>
              <a:t>Resident model. Instant feedback.</a:t>
            </a:r>
            <a:endParaRPr lang="en-US" sz="1800"/>
          </a:p>
        </p:txBody>
      </p:sp>
      <p:sp>
        <p:nvSpPr>
          <p:cNvPr id="7" name="Exchange updates step"/>
          <p:cNvSpPr txBox="1"/>
          <p:nvPr/>
        </p:nvSpPr>
        <p:spPr>
          <a:xfrm>
            <a:off x="762000" y="4381500"/>
            <a:ext cx="4953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D0C4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200" b="1">
                <a:solidFill>
                  <a:srgbClr val="D94F35"/>
                </a:solidFill>
                <a:latin typeface="Arial"/>
              </a:rPr>
              <a:t>02</a:t>
            </a:r>
            <a:r>
              <a:rPr lang="en-US" sz="1500" b="1">
                <a:solidFill>
                  <a:srgbClr val="101828"/>
                </a:solidFill>
                <a:latin typeface="Arial"/>
              </a:rPr>
              <a:t>   Exchange updates</a:t>
            </a:r>
            <a:endParaRPr lang="en-US" sz="1800"/>
          </a:p>
          <a:p>
            <a:pPr algn="l" lvl="0"/>
            <a:r>
              <a:rPr lang="en-US" sz="1000">
                <a:solidFill>
                  <a:srgbClr val="667085"/>
                </a:solidFill>
                <a:latin typeface="Arial"/>
              </a:rPr>
              <a:t>Compact binary deltas. Nothing else.</a:t>
            </a:r>
            <a:endParaRPr lang="en-US" sz="1800"/>
          </a:p>
        </p:txBody>
      </p:sp>
      <p:sp>
        <p:nvSpPr>
          <p:cNvPr id="8" name="Converge step"/>
          <p:cNvSpPr txBox="1"/>
          <p:nvPr/>
        </p:nvSpPr>
        <p:spPr>
          <a:xfrm>
            <a:off x="762000" y="5219700"/>
            <a:ext cx="4953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7E7D0"/>
            </a:solidFill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200" b="1">
                <a:solidFill>
                  <a:srgbClr val="16825D"/>
                </a:solidFill>
                <a:latin typeface="Arial"/>
              </a:rPr>
              <a:t>03</a:t>
            </a:r>
            <a:r>
              <a:rPr lang="en-US" sz="1500" b="1">
                <a:solidFill>
                  <a:srgbClr val="101828"/>
                </a:solidFill>
                <a:latin typeface="Arial"/>
              </a:rPr>
              <a:t>   Converge everywhere</a:t>
            </a:r>
            <a:endParaRPr lang="en-US" sz="1800"/>
          </a:p>
          <a:p>
            <a:pPr algn="l" lvl="0"/>
            <a:r>
              <a:rPr lang="en-US" sz="1000">
                <a:solidFill>
                  <a:srgbClr val="667085"/>
                </a:solidFill>
                <a:latin typeface="Arial"/>
              </a:rPr>
              <a:t>One state across every peer.</a:t>
            </a:r>
            <a:endParaRPr lang="en-US" sz="1800"/>
          </a:p>
        </p:txBody>
      </p:sp>
      <p:sp>
        <p:nvSpPr>
          <p:cNvPr id="20" name="Live session panel"/>
          <p:cNvSpPr/>
          <p:nvPr/>
        </p:nvSpPr>
        <p:spPr>
          <a:xfrm>
            <a:off x="6400800" y="609600"/>
            <a:ext cx="5029200" cy="5486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1FF"/>
            </a:solidFill>
          </a:ln>
        </p:spPr>
      </p:sp>
      <p:sp>
        <p:nvSpPr>
          <p:cNvPr id="21" name="Live session title"/>
          <p:cNvSpPr txBox="1"/>
          <p:nvPr/>
        </p:nvSpPr>
        <p:spPr>
          <a:xfrm>
            <a:off x="6781800" y="838200"/>
            <a:ext cx="2362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ctr"/>
          <a:lstStyle/>
          <a:p>
            <a:pPr algn="l" lvl="0"/>
            <a:r>
              <a:rPr lang="en-US" sz="1200" b="1">
                <a:solidFill>
                  <a:srgbClr val="101828"/>
                </a:solidFill>
                <a:latin typeface="Arial"/>
              </a:rPr>
              <a:t>Q3 launch deck</a:t>
            </a:r>
            <a:endParaRPr lang="en-US" sz="1800"/>
          </a:p>
        </p:txBody>
      </p:sp>
      <p:sp>
        <p:nvSpPr>
          <p:cNvPr id="22" name="Peer one"/>
          <p:cNvSpPr/>
          <p:nvPr/>
        </p:nvSpPr>
        <p:spPr>
          <a:xfrm>
            <a:off x="10058400" y="838200"/>
            <a:ext cx="342900" cy="342900"/>
          </a:xfrm>
          <a:prstGeom prst="ellipse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23" name="Peer two"/>
          <p:cNvSpPr/>
          <p:nvPr/>
        </p:nvSpPr>
        <p:spPr>
          <a:xfrm>
            <a:off x="10439400" y="838200"/>
            <a:ext cx="342900" cy="342900"/>
          </a:xfrm>
          <a:prstGeom prst="ellipse">
            <a:avLst/>
          </a:prstGeom>
          <a:solidFill>
            <a:srgbClr val="FF8066"/>
          </a:solidFill>
          <a:ln>
            <a:noFill/>
          </a:ln>
        </p:spPr>
      </p:sp>
      <p:sp>
        <p:nvSpPr>
          <p:cNvPr id="24" name="Peer three"/>
          <p:cNvSpPr/>
          <p:nvPr/>
        </p:nvSpPr>
        <p:spPr>
          <a:xfrm>
            <a:off x="10820400" y="838200"/>
            <a:ext cx="342900" cy="342900"/>
          </a:xfrm>
          <a:prstGeom prst="ellipse">
            <a:avLst/>
          </a:prstGeom>
          <a:solidFill>
            <a:srgbClr val="48C78E"/>
          </a:solidFill>
          <a:ln>
            <a:noFill/>
          </a:ln>
        </p:spPr>
      </p:sp>
      <p:sp>
        <p:nvSpPr>
          <p:cNvPr id="25" name="Shared canvas"/>
          <p:cNvSpPr/>
          <p:nvPr/>
        </p:nvSpPr>
        <p:spPr>
          <a:xfrm>
            <a:off x="6781800" y="1524000"/>
            <a:ext cx="4267200" cy="3429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4E7EC"/>
            </a:solidFill>
          </a:ln>
        </p:spPr>
      </p:sp>
      <p:sp>
        <p:nvSpPr>
          <p:cNvPr id="26" name="Shared canvas heading"/>
          <p:cNvSpPr txBox="1"/>
          <p:nvPr/>
        </p:nvSpPr>
        <p:spPr>
          <a:xfrm>
            <a:off x="7086600" y="1828800"/>
            <a:ext cx="3048000" cy="5334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91440" rIns="152400" bIns="91440" anchor="t"/>
          <a:lstStyle/>
          <a:p>
            <a:pPr algn="l" lvl="0"/>
            <a:r>
              <a:rPr lang="en-US" sz="1800" b="1">
                <a:solidFill>
                  <a:srgbClr val="101828"/>
                </a:solidFill>
                <a:latin typeface="Arial"/>
              </a:rPr>
              <a:t>Launch narrative</a:t>
            </a:r>
            <a:endParaRPr lang="en-US" sz="1800"/>
          </a:p>
        </p:txBody>
      </p:sp>
      <p:sp>
        <p:nvSpPr>
          <p:cNvPr id="27" name="Canvas line one"/>
          <p:cNvSpPr/>
          <p:nvPr/>
        </p:nvSpPr>
        <p:spPr>
          <a:xfrm>
            <a:off x="7086600" y="2590800"/>
            <a:ext cx="2819400" cy="91440"/>
          </a:xfrm>
          <a:prstGeom prst="roundRect">
            <a:avLst/>
          </a:prstGeom>
          <a:solidFill>
            <a:srgbClr val="D0D5DD"/>
          </a:solidFill>
          <a:ln>
            <a:noFill/>
          </a:ln>
        </p:spPr>
      </p:sp>
      <p:sp>
        <p:nvSpPr>
          <p:cNvPr id="28" name="Canvas line two"/>
          <p:cNvSpPr/>
          <p:nvPr/>
        </p:nvSpPr>
        <p:spPr>
          <a:xfrm>
            <a:off x="7086600" y="2819400"/>
            <a:ext cx="2133600" cy="91440"/>
          </a:xfrm>
          <a:prstGeom prst="roundRect">
            <a:avLst/>
          </a:prstGeom>
          <a:solidFill>
            <a:srgbClr val="D0D5DD"/>
          </a:solidFill>
          <a:ln>
            <a:noFill/>
          </a:ln>
        </p:spPr>
      </p:sp>
      <p:sp>
        <p:nvSpPr>
          <p:cNvPr id="29" name="Canvas card one"/>
          <p:cNvSpPr/>
          <p:nvPr/>
        </p:nvSpPr>
        <p:spPr>
          <a:xfrm>
            <a:off x="7086600" y="3352800"/>
            <a:ext cx="1524000" cy="990600"/>
          </a:xfrm>
          <a:prstGeom prst="roundRect">
            <a:avLst/>
          </a:prstGeom>
          <a:solidFill>
            <a:srgbClr val="E6EBFF"/>
          </a:solidFill>
          <a:ln>
            <a:noFill/>
          </a:ln>
        </p:spPr>
      </p:sp>
      <p:sp>
        <p:nvSpPr>
          <p:cNvPr id="30" name="Canvas card two"/>
          <p:cNvSpPr/>
          <p:nvPr/>
        </p:nvSpPr>
        <p:spPr>
          <a:xfrm>
            <a:off x="8839200" y="3352800"/>
            <a:ext cx="1905000" cy="990600"/>
          </a:xfrm>
          <a:prstGeom prst="roundRect">
            <a:avLst/>
          </a:prstGeom>
          <a:solidFill>
            <a:srgbClr val="E7F8EF"/>
          </a:solidFill>
          <a:ln>
            <a:noFill/>
          </a:ln>
        </p:spPr>
      </p:sp>
      <p:sp>
        <p:nvSpPr>
          <p:cNvPr id="31" name="You cursor"/>
          <p:cNvSpPr txBox="1"/>
          <p:nvPr/>
        </p:nvSpPr>
        <p:spPr>
          <a:xfrm>
            <a:off x="6934200" y="3048000"/>
            <a:ext cx="762000" cy="381000"/>
          </a:xfrm>
          <a:prstGeom prst="roundRect">
            <a:avLst/>
          </a:prstGeom>
          <a:solidFill>
            <a:srgbClr val="315EFB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800" b="1">
                <a:solidFill>
                  <a:srgbClr val="FFFFFF"/>
                </a:solidFill>
                <a:latin typeface="Arial"/>
              </a:rPr>
              <a:t>YOU</a:t>
            </a:r>
            <a:endParaRPr lang="en-US" sz="1800"/>
          </a:p>
        </p:txBody>
      </p:sp>
      <p:sp>
        <p:nvSpPr>
          <p:cNvPr id="32" name="You cursor line"/>
          <p:cNvSpPr/>
          <p:nvPr/>
        </p:nvSpPr>
        <p:spPr>
          <a:xfrm>
            <a:off x="7315200" y="3390900"/>
            <a:ext cx="15240" cy="762000"/>
          </a:xfrm>
          <a:prstGeom prst="rect">
            <a:avLst/>
          </a:prstGeom>
          <a:solidFill>
            <a:srgbClr val="315EFB"/>
          </a:solidFill>
          <a:ln>
            <a:noFill/>
          </a:ln>
        </p:spPr>
      </p:sp>
      <p:sp>
        <p:nvSpPr>
          <p:cNvPr id="33" name="Maya cursor"/>
          <p:cNvSpPr txBox="1"/>
          <p:nvPr/>
        </p:nvSpPr>
        <p:spPr>
          <a:xfrm>
            <a:off x="9677400" y="2286000"/>
            <a:ext cx="838200" cy="381000"/>
          </a:xfrm>
          <a:prstGeom prst="roundRect">
            <a:avLst/>
          </a:prstGeom>
          <a:solidFill>
            <a:srgbClr val="FF8066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800" b="1">
                <a:solidFill>
                  <a:srgbClr val="101828"/>
                </a:solidFill>
                <a:latin typeface="Arial"/>
              </a:rPr>
              <a:t>MAYA</a:t>
            </a:r>
            <a:endParaRPr lang="en-US" sz="1800"/>
          </a:p>
        </p:txBody>
      </p:sp>
      <p:sp>
        <p:nvSpPr>
          <p:cNvPr id="34" name="Maya cursor line"/>
          <p:cNvSpPr/>
          <p:nvPr/>
        </p:nvSpPr>
        <p:spPr>
          <a:xfrm>
            <a:off x="10096500" y="2628900"/>
            <a:ext cx="15240" cy="914400"/>
          </a:xfrm>
          <a:prstGeom prst="rect">
            <a:avLst/>
          </a:prstGeom>
          <a:solidFill>
            <a:srgbClr val="FF8066"/>
          </a:solidFill>
          <a:ln>
            <a:noFill/>
          </a:ln>
        </p:spPr>
      </p:sp>
      <p:sp>
        <p:nvSpPr>
          <p:cNvPr id="35" name="Session status"/>
          <p:cNvSpPr txBox="1"/>
          <p:nvPr/>
        </p:nvSpPr>
        <p:spPr>
          <a:xfrm>
            <a:off x="6781800" y="5181600"/>
            <a:ext cx="4267200" cy="533400"/>
          </a:xfrm>
          <a:prstGeom prst="roundRect">
            <a:avLst/>
          </a:prstGeom>
          <a:solidFill>
            <a:srgbClr val="C8F56A"/>
          </a:solidFill>
          <a:ln>
            <a:noFill/>
          </a:ln>
        </p:spPr>
        <p:txBody>
          <a:bodyPr wrap="square" lIns="152400" tIns="91440" rIns="152400" bIns="91440" anchor="ctr"/>
          <a:lstStyle/>
          <a:p>
            <a:pPr algn="ctr" lvl="0"/>
            <a:r>
              <a:rPr lang="en-US" sz="950" b="1">
                <a:solidFill>
                  <a:srgbClr val="101828"/>
                </a:solidFill>
                <a:latin typeface="Arial"/>
              </a:rPr>
              <a:t>3 peers  ·  synced  ·  local-first</a:t>
            </a:r>
            <a:endParaRPr 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tterOffice">
  <a:themeElements>
    <a:clrScheme name="BetterOffice">
      <a:dk1>
        <a:srgbClr val="101828"/>
      </a:dk1>
      <a:lt1>
        <a:srgbClr val="FFFFFF"/>
      </a:lt1>
      <a:dk2>
        <a:srgbClr val="1D2939"/>
      </a:dk2>
      <a:lt2>
        <a:srgbClr val="F8F7F2"/>
      </a:lt2>
      <a:accent1>
        <a:srgbClr val="315EFB"/>
      </a:accent1>
      <a:accent2>
        <a:srgbClr val="16825D"/>
      </a:accent2>
      <a:accent3>
        <a:srgbClr val="D94F35"/>
      </a:accent3>
      <a:accent4>
        <a:srgbClr val="C8F56A"/>
      </a:accent4>
      <a:accent5>
        <a:srgbClr val="8AB4FF"/>
      </a:accent5>
      <a:accent6>
        <a:srgbClr val="667085"/>
      </a:accent6>
      <a:hlink>
        <a:srgbClr val="315EFB"/>
      </a:hlink>
      <a:folHlink>
        <a:srgbClr val="5D6DCB"/>
      </a:folHlink>
    </a:clrScheme>
    <a:fontScheme name="Better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Better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9050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BetterOffice</Application>
  <PresentationFormat>Widescreen</PresentationFormat>
  <Slides>3</Slides>
  <Notes>0</Notes>
  <HiddenSlides>0</HiddenSlides>
  <Company>BetterOffice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BetterOffice — office files without the office</dc:title>
  <dc:creator>BetterOffice</dc:creator>
  <cp:lastModifiedBy>BetterOffice</cp:lastModifiedBy>
  <dcterms:created xsi:type="dcterms:W3CDTF">2026-01-01T00:00:00Z</dcterms:created>
  <dcterms:modified xsi:type="dcterms:W3CDTF">2026-01-01T00:00:00Z</dcterms:modified>
</cp:coreProperties>
</file>