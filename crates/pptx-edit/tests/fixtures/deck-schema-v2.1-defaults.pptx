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dk1" tx1="lt1" bg2="dk2" tx2="lt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Direct all caps"/>
          <p:cNvSpPr txBox="1"/>
          <p:nvPr/>
        </p:nvSpPr>
        <p:spPr>
          <a:xfrm>
            <a:off x="857250" y="381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/>
            <a:r>
              <a:rPr lang="en-US" sz="3200" cap="all">
                <a:solidFill>
                  <a:schemeClr val="tx1"/>
                </a:solidFill>
                <a:latin typeface="Arial"/>
              </a:rPr>
              <a:t>Mixed Case Title</a:t>
            </a:r>
          </a:p>
        </p:txBody>
      </p:sp>
      <p:sp>
        <p:nvSpPr>
          <p:cNvPr id="11" name="Direct small caps"/>
          <p:cNvSpPr txBox="1"/>
          <p:nvPr/>
        </p:nvSpPr>
        <p:spPr>
          <a:xfrm>
            <a:off x="857250" y="1524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/>
            <a:r>
              <a:rPr lang="en-US" sz="3200" cap="small">
                <a:solidFill>
                  <a:schemeClr val="tx1"/>
                </a:solidFill>
                <a:latin typeface="Arial"/>
              </a:rPr>
              <a:t>Small Caps Run</a:t>
            </a:r>
          </a:p>
        </p:txBody>
      </p:sp>
      <p:sp>
        <p:nvSpPr>
          <p:cNvPr id="12" name="Inherited all caps"/>
          <p:cNvSpPr txBox="1"/>
          <p:nvPr/>
        </p:nvSpPr>
        <p:spPr>
          <a:xfrm>
            <a:off x="857250" y="2667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>
              <a:defRPr cap="all"/>
            </a:lvl1pPr>
          </a:lstStyle>
          <a:p>
            <a:pPr/>
            <a:r>
              <a:rPr lang="en-US" sz="3200">
                <a:solidFill>
                  <a:srgbClr val="112233"/>
                </a:solidFill>
                <a:latin typeface="Arial"/>
              </a:rPr>
              <a:t>Inherited Caps</a:t>
            </a:r>
          </a:p>
        </p:txBody>
      </p:sp>
      <p:sp>
        <p:nvSpPr>
          <p:cNvPr id="13" name="Caps turned off"/>
          <p:cNvSpPr txBox="1"/>
          <p:nvPr/>
        </p:nvSpPr>
        <p:spPr>
          <a:xfrm>
            <a:off x="857250" y="3810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>
              <a:defRPr cap="all"/>
            </a:lvl1pPr>
          </a:lstStyle>
          <a:p>
            <a:pPr/>
            <a:r>
              <a:rPr lang="en-US" sz="3200" cap="none">
                <a:solidFill>
                  <a:srgbClr val="112233"/>
                </a:solidFill>
                <a:latin typeface="Arial"/>
              </a:rPr>
              <a:t>Kept as authored</a:t>
            </a:r>
          </a:p>
        </p:txBody>
      </p:sp>
      <p:sp>
        <p:nvSpPr>
          <p:cNvPr id="20" name="Default star"/>
          <p:cNvSpPr/>
          <p:nvPr/>
        </p:nvSpPr>
        <p:spPr>
          <a:xfrm>
            <a:off x="857250" y="5143500"/>
            <a:ext cx="952500" cy="952500"/>
          </a:xfrm>
          <a:prstGeom prst="star5">
            <a:avLst/>
          </a:prstGeom>
          <a:solidFill>
            <a:srgbClr val="F4B400"/>
          </a:solidFill>
        </p:spPr>
      </p:sp>
      <p:sp>
        <p:nvSpPr>
          <p:cNvPr id="21" name="Authored legacy star"/>
          <p:cNvSpPr/>
          <p:nvPr/>
        </p:nvSpPr>
        <p:spPr>
          <a:xfrm>
            <a:off x="2095500" y="5143500"/>
            <a:ext cx="952500" cy="952500"/>
          </a:xfrm>
          <a:prstGeom prst="star5">
            <a:avLst>
              <a:gd name="adj" fmla="val 45000"/>
            </a:avLst>
          </a:prstGeom>
          <a:solidFill>
            <a:srgbClr val="F4B400"/>
          </a:solidFill>
        </p:spPr>
      </p:sp>
      <p:sp>
        <p:nvSpPr>
          <p:cNvPr id="22" name="Default trapezoid"/>
          <p:cNvSpPr/>
          <p:nvPr/>
        </p:nvSpPr>
        <p:spPr>
          <a:xfrm>
            <a:off x="3333750" y="5143500"/>
            <a:ext cx="952500" cy="952500"/>
          </a:xfrm>
          <a:prstGeom prst="trapezoid">
            <a:avLst/>
          </a:prstGeom>
          <a:solidFill>
            <a:srgbClr val="F4B400"/>
          </a:solidFill>
        </p:spPr>
      </p:sp>
      <p:sp>
        <p:nvSpPr>
          <p:cNvPr id="23" name="Authored trapezoid"/>
          <p:cNvSpPr/>
          <p:nvPr/>
        </p:nvSpPr>
        <p:spPr>
          <a:xfrm>
            <a:off x="4572000" y="5143500"/>
            <a:ext cx="952500" cy="952500"/>
          </a:xfrm>
          <a:prstGeom prst="trapezoid">
            <a:avLst>
              <a:gd name="adj" fmla="val 30000"/>
            </a:avLst>
          </a:prstGeom>
          <a:solidFill>
            <a:srgbClr val="F4B400"/>
          </a:solidFill>
        </p:spPr>
      </p:sp>
      <p:sp>
        <p:nvSpPr>
          <p:cNvPr id="24" name="Default arc"/>
          <p:cNvSpPr/>
          <p:nvPr/>
        </p:nvSpPr>
        <p:spPr>
          <a:xfrm>
            <a:off x="5810250" y="5143500"/>
            <a:ext cx="952500" cy="952500"/>
          </a:xfrm>
          <a:prstGeom prst="arc">
            <a:avLst/>
          </a:prstGeom>
          <a:solidFill>
            <a:srgbClr val="F4B400"/>
          </a:solidFill>
        </p:spPr>
      </p:sp>
      <p:grpSp>
        <p:nvGrpSpPr>
          <p:cNvPr id="25" name="Star group"/>
          <p:cNvGrpSpPr/>
          <p:nvPr/>
        </p:nvGrpSpPr>
        <p:grpSpPr>
          <a:xfrm>
            <a:off x="7048500" y="5143500"/>
            <a:ext cx="952500" cy="952500"/>
            <a:chOff x="7048500" y="5143500"/>
            <a:chExt cx="952500" cy="952500"/>
          </a:xfrm>
        </p:grpSpPr>
        <p:sp>
          <p:nvSpPr>
            <p:cNvPr id="26" name="Grouped star"/>
            <p:cNvSpPr/>
            <p:nvPr/>
          </p:nvSpPr>
          <p:spPr>
            <a:xfrm>
              <a:off x="7048500" y="5143500"/>
              <a:ext cx="952500" cy="952500"/>
            </a:xfrm>
            <a:prstGeom prst="star8">
              <a:avLst/>
            </a:prstGeom>
            <a:solidFill>
              <a:srgbClr val="F4B400"/>
            </a:solidFill>
          </p:spPr>
        </p:sp>
      </p:grp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1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