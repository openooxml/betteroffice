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UR GREEN INITIATIVES"/>
          <p:cNvSpPr txBox="1"/>
          <p:nvPr/>
        </p:nvSpPr>
        <p:spPr>
          <a:xfrm>
            <a:off x="857250" y="381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 algn="ctr"/>
            <a:r>
              <a:rPr sz="3200" spc="600">
                <a:solidFill>
                  <a:srgbClr val="008044"/>
                </a:solidFill>
                <a:latin typeface="Arial"/>
              </a:rPr>
              <a:t>OUR GREEN INITIATIVES</a:t>
            </a:r>
          </a:p>
        </p:txBody>
      </p:sp>
      <p:sp>
        <p:nvSpPr>
          <p:cNvPr id="3" name="Mixed tracking"/>
          <p:cNvSpPr txBox="1"/>
          <p:nvPr/>
        </p:nvSpPr>
        <p:spPr>
          <a:xfrm>
            <a:off x="857250" y="17145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/>
            <a:r>
              <a:rPr sz="3200" spc="0">
                <a:solidFill>
                  <a:srgbClr val="112233"/>
                </a:solidFill>
                <a:latin typeface="Arial"/>
              </a:rPr>
              <a:t>PLAIN </a:t>
            </a:r>
            <a:r>
              <a:rPr sz="3200" spc="600">
                <a:solidFill>
                  <a:srgbClr val="112233"/>
                </a:solidFill>
                <a:latin typeface="Arial"/>
              </a:rPr>
              <a:t>WIDE</a:t>
            </a:r>
            <a:r>
              <a:rPr sz="3200" spc="-100">
                <a:solidFill>
                  <a:srgbClr val="112233"/>
                </a:solidFill>
                <a:latin typeface="Arial"/>
              </a:rPr>
              <a:t> TIGHT</a:t>
            </a:r>
          </a:p>
        </p:txBody>
      </p:sp>
      <p:sp>
        <p:nvSpPr>
          <p:cNvPr id="4" name="Shape autofit"/>
          <p:cNvSpPr txBox="1"/>
          <p:nvPr/>
        </p:nvSpPr>
        <p:spPr>
          <a:xfrm>
            <a:off x="857250" y="2476500"/>
            <a:ext cx="3048000" cy="952500"/>
          </a:xfrm>
          <a:prstGeom prst="rect">
            <a:avLst/>
          </a:prstGeom>
          <a:noFill/>
        </p:spPr>
        <p:txBody>
          <a:bodyPr lIns="0" rIns="0" tIns="0" bIns="0">
            <a:spAutoFit/>
          </a:bodyPr>
          <a:lstStyle/>
          <a:p>
            <a:pPr/>
            <a:r>
              <a:rPr sz="3200" spc="300">
                <a:solidFill>
                  <a:srgbClr val="224466"/>
                </a:solidFill>
                <a:latin typeface="Arial"/>
              </a:rPr>
              <a:t>STRENGTH Opportunity threat weakness strengths opportunity tracked text wraps across this small box.</a:t>
            </a:r>
          </a:p>
        </p:txBody>
      </p:sp>
      <p:sp>
        <p:nvSpPr>
          <p:cNvPr id="5" name="Inherited tracking"/>
          <p:cNvSpPr txBox="1"/>
          <p:nvPr/>
        </p:nvSpPr>
        <p:spPr>
          <a:xfrm>
            <a:off x="857250" y="428625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>
              <a:defRPr spc="300"/>
            </a:lvl1pPr>
          </a:lstStyle>
          <a:p>
            <a:pPr/>
            <a:r>
              <a:rPr sz="3200">
                <a:solidFill>
                  <a:srgbClr val="802020"/>
                </a:solidFill>
                <a:latin typeface="Arial"/>
              </a:rPr>
              <a:t>INHERITED TRACKING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