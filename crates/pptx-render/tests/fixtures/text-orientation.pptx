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Master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Layout prompt"/>
          <p:cNvSpPr/>
          <p:nvPr>
            <p:ph type="body" idx="1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 vert="vert270" lIns="0" tIns="0" rIns="0" bIns="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Layout prompt</a:t>
            </a:r>
          </a:p>
        </p:txBody>
      </p:sp>
      <p:sp>
        <p:nvSpPr>
          <p:cNvPr id="31" name="Master fallback"/>
          <p:cNvSpPr/>
          <p:nvPr>
            <p:ph type="body" idx="2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Master fallback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Master prompt"/>
          <p:cNvSpPr/>
          <p:nvPr>
            <p:ph type="body" idx="2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 vert="vert" lIns="0" tIns="0" rIns="0" bIns="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Master prompt</a:t>
            </a:r>
          </a:p>
        </p:txBody>
      </p:sp>
    </p:spTree>
  </p:cSld>
  <p:sldLayoutIdLst>
    <p:sldLayoutId id="2147483649" r:id="rId1"/>
  </p:sldLayoutIdLst>
  <p:txStyles>
    <p:titleStyle>
      <a:lvl1pPr>
        <a:defRPr sz="3925">
          <a:solidFill>
            <a:srgbClr val="505050"/>
          </a:solidFill>
          <a:latin typeface="Arial"/>
        </a:defRPr>
      </a:lvl1pPr>
    </p:titleStyle>
    <p:bodyStyle>
      <a:lvl1pPr>
        <a:defRPr sz="1800">
          <a:solidFill>
            <a:srgbClr val="505050"/>
          </a:solidFill>
          <a:latin typeface="Arial"/>
        </a:defRPr>
      </a:lvl1pPr>
      <a:lvl2pPr>
        <a:defRPr sz="1600">
          <a:solidFill>
            <a:srgbClr val="505050"/>
          </a:solidFill>
          <a:latin typeface="Arial"/>
        </a:defRPr>
      </a:lvl2pPr>
      <a:lvl3pPr>
        <a:defRPr sz="1400">
          <a:solidFill>
            <a:srgbClr val="505050"/>
          </a:solidFill>
          <a:latin typeface="Arial"/>
        </a:defRPr>
      </a:lvl3pPr>
    </p:body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Shape text orientation — issue #307"/>
          <p:cNvSpPr/>
          <p:nvPr/>
        </p:nvSpPr>
        <p:spPr>
          <a:xfrm rot="0">
            <a:off x="381000" y="190500"/>
            <a:ext cx="11430000" cy="476250"/>
          </a:xfrm>
          <a:prstGeom prst="rect">
            <a:avLst/>
          </a:prstGeom>
          <a:solidFill>
            <a:srgbClr val="FFFFFF"/>
          </a:solidFill>
        </p:spPr>
        <p:txBody>
          <a:bodyPr lIns="91440" rIns="91440" tIns="45720" bIns="45720"/>
          <a:lstStyle/>
          <a:p>
            <a:pPr>
              <a:buNone/>
            </a:pPr>
            <a:r>
              <a:rPr sz="2400">
                <a:solidFill>
                  <a:srgbClr val="17365D"/>
                </a:solidFill>
                <a:latin typeface="Arial"/>
              </a:rPr>
              <a:t>Shape text orientation — issue #307</a:t>
            </a:r>
          </a:p>
        </p:txBody>
      </p:sp>
      <p:sp>
        <p:nvSpPr>
          <p:cNvPr id="2" name="Take the Shadow IT and Data Risk Assessments"/>
          <p:cNvSpPr/>
          <p:nvPr/>
        </p:nvSpPr>
        <p:spPr>
          <a:xfrm rot="5400000">
            <a:off x="4601452" y="-2333065"/>
            <a:ext cx="639990" cy="7718032"/>
          </a:xfrm>
          <a:prstGeom prst="rect">
            <a:avLst/>
          </a:prstGeom>
          <a:solidFill>
            <a:srgbClr val="EAF2F8"/>
          </a:solidFill>
        </p:spPr>
        <p:txBody>
          <a:bodyPr vert="vert270" anchor="ctr" lIns="91440" rIns="91440" tIns="45720" bIns="45720"/>
          <a:lstStyle/>
          <a:p>
            <a:pPr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Take the Shadow IT and Data Risk Assessments</a:t>
            </a:r>
          </a:p>
        </p:txBody>
      </p:sp>
      <p:sp>
        <p:nvSpPr>
          <p:cNvPr id="3" name="Audit"/>
          <p:cNvSpPr/>
          <p:nvPr/>
        </p:nvSpPr>
        <p:spPr>
          <a:xfrm rot="10800000" flipV="1">
            <a:off x="666750" y="2571750"/>
            <a:ext cx="2286000" cy="666750"/>
          </a:xfrm>
          <a:prstGeom prst="rect">
            <a:avLst/>
          </a:prstGeom>
          <a:solidFill>
            <a:srgbClr val="EAF2F8"/>
          </a:solidFill>
        </p:spPr>
        <p:txBody>
          <a:bodyPr anchor="ctr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Audit</a:t>
            </a:r>
          </a:p>
        </p:txBody>
      </p:sp>
      <p:sp>
        <p:nvSpPr>
          <p:cNvPr id="4" name="Flip H"/>
          <p:cNvSpPr/>
          <p:nvPr/>
        </p:nvSpPr>
        <p:spPr>
          <a:xfrm rot="0" flipH="1">
            <a:off x="3429000" y="2571750"/>
            <a:ext cx="2286000" cy="666750"/>
          </a:xfrm>
          <a:prstGeom prst="rect">
            <a:avLst/>
          </a:prstGeom>
          <a:solidFill>
            <a:srgbClr val="EAF2F8"/>
          </a:solidFill>
        </p:spPr>
        <p:txBody>
          <a:bodyPr anchor="ctr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Flip H</a:t>
            </a:r>
          </a:p>
        </p:txBody>
      </p:sp>
      <p:sp>
        <p:nvSpPr>
          <p:cNvPr id="5" name="Flip V"/>
          <p:cNvSpPr/>
          <p:nvPr/>
        </p:nvSpPr>
        <p:spPr>
          <a:xfrm rot="0" flipV="1">
            <a:off x="6191250" y="2571750"/>
            <a:ext cx="2286000" cy="666750"/>
          </a:xfrm>
          <a:prstGeom prst="rect">
            <a:avLst/>
          </a:prstGeom>
          <a:solidFill>
            <a:srgbClr val="EAF2F8"/>
          </a:solidFill>
        </p:spPr>
        <p:txBody>
          <a:bodyPr anchor="ctr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Flip V</a:t>
            </a:r>
          </a:p>
        </p:txBody>
      </p:sp>
      <p:sp>
        <p:nvSpPr>
          <p:cNvPr id="6" name="Both flips"/>
          <p:cNvSpPr/>
          <p:nvPr/>
        </p:nvSpPr>
        <p:spPr>
          <a:xfrm rot="0" flipH="1" flipV="1">
            <a:off x="8953500" y="2571750"/>
            <a:ext cx="2286000" cy="666750"/>
          </a:xfrm>
          <a:prstGeom prst="rect">
            <a:avLst/>
          </a:prstGeom>
          <a:solidFill>
            <a:srgbClr val="EAF2F8"/>
          </a:solidFill>
        </p:spPr>
        <p:txBody>
          <a:bodyPr anchor="ctr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Both flips</a:t>
            </a:r>
          </a:p>
        </p:txBody>
      </p:sp>
      <p:sp>
        <p:nvSpPr>
          <p:cNvPr id="7" name="Quarter turn plus flip H"/>
          <p:cNvSpPr/>
          <p:nvPr/>
        </p:nvSpPr>
        <p:spPr>
          <a:xfrm rot="5400000" flipH="1">
            <a:off x="5334000" y="2857500"/>
            <a:ext cx="571500" cy="6667500"/>
          </a:xfrm>
          <a:prstGeom prst="rect">
            <a:avLst/>
          </a:prstGeom>
          <a:solidFill>
            <a:srgbClr val="EAF2F8"/>
          </a:solidFill>
        </p:spPr>
        <p:txBody>
          <a:bodyPr vert="vert270" anchor="ctr" lIns="91440" rIns="91440" tIns="45720" bIns="45720"/>
          <a:lstStyle/>
          <a:p>
            <a:pPr>
              <a:buNone/>
            </a:pPr>
            <a:r>
              <a:rPr sz="1600">
                <a:solidFill>
                  <a:srgbClr val="17365D"/>
                </a:solidFill>
                <a:latin typeface="Arial"/>
              </a:rPr>
              <a:t>Quarter turn plus flip 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Vertical insets and inherited text direction"/>
          <p:cNvSpPr/>
          <p:nvPr/>
        </p:nvSpPr>
        <p:spPr>
          <a:xfrm rot="0">
            <a:off x="381000" y="190500"/>
            <a:ext cx="11430000" cy="476250"/>
          </a:xfrm>
          <a:prstGeom prst="rect">
            <a:avLst/>
          </a:prstGeom>
          <a:solidFill>
            <a:srgbClr val="FFFFFF"/>
          </a:solidFill>
        </p:spPr>
        <p:txBody>
          <a:bodyPr lIns="91440" rIns="91440" tIns="45720" bIns="45720"/>
          <a:lstStyle/>
          <a:p>
            <a:pPr>
              <a:buNone/>
            </a:pPr>
            <a:r>
              <a:rPr sz="2400">
                <a:solidFill>
                  <a:srgbClr val="17365D"/>
                </a:solidFill>
                <a:latin typeface="Arial"/>
              </a:rPr>
              <a:t>Vertical insets and inherited text direction</a:t>
            </a:r>
          </a:p>
        </p:txBody>
      </p:sp>
      <p:sp>
        <p:nvSpPr>
          <p:cNvPr id="10" name="Top right bottom left"/>
          <p:cNvSpPr/>
          <p:nvPr/>
        </p:nvSpPr>
        <p:spPr>
          <a:xfrm rot="0">
            <a:off x="762000" y="952500"/>
            <a:ext cx="1143000" cy="4286250"/>
          </a:xfrm>
          <a:prstGeom prst="rect">
            <a:avLst/>
          </a:prstGeom>
          <a:solidFill>
            <a:srgbClr val="EAF2F8"/>
          </a:solidFill>
        </p:spPr>
        <p:txBody>
          <a:bodyPr vert="vert" lIns="95250" tIns="190500" rIns="285750" bIns="38100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Top right bottom left</a:t>
            </a:r>
          </a:p>
        </p:txBody>
      </p:sp>
      <p:sp>
        <p:nvSpPr>
          <p:cNvPr id="11" name="Bottom left top right"/>
          <p:cNvSpPr/>
          <p:nvPr/>
        </p:nvSpPr>
        <p:spPr>
          <a:xfrm rot="0">
            <a:off x="2476500" y="952500"/>
            <a:ext cx="1143000" cy="4286250"/>
          </a:xfrm>
          <a:prstGeom prst="rect">
            <a:avLst/>
          </a:prstGeom>
          <a:solidFill>
            <a:srgbClr val="EAF2F8"/>
          </a:solidFill>
        </p:spPr>
        <p:txBody>
          <a:bodyPr vert="vert270" lIns="95250" tIns="190500" rIns="285750" bIns="38100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Bottom left top right</a:t>
            </a:r>
          </a:p>
        </p:txBody>
      </p:sp>
      <p:sp>
        <p:nvSpPr>
          <p:cNvPr id="12" name="Inherited layout"/>
          <p:cNvSpPr/>
          <p:nvPr>
            <p:ph type="body" idx="1"/>
          </p:nvPr>
        </p:nvSpPr>
        <p:spPr>
          <a:xfrm rot="0">
            <a:off x="4381500" y="952500"/>
            <a:ext cx="1143000" cy="4286250"/>
          </a:xfrm>
          <a:prstGeom prst="rect">
            <a:avLst/>
          </a:prstGeom>
          <a:solidFill>
            <a:srgbClr val="EAF2F8"/>
          </a:solidFill>
        </p:spPr>
        <p:txBody>
          <a:bodyPr anchor="ctr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Inherited layout</a:t>
            </a:r>
          </a:p>
        </p:txBody>
      </p:sp>
      <p:sp>
        <p:nvSpPr>
          <p:cNvPr id="13" name="Inherited master"/>
          <p:cNvSpPr/>
          <p:nvPr>
            <p:ph type="body" idx="2"/>
          </p:nvPr>
        </p:nvSpPr>
        <p:spPr>
          <a:xfrm rot="0">
            <a:off x="6286500" y="952500"/>
            <a:ext cx="1143000" cy="4286250"/>
          </a:xfrm>
          <a:prstGeom prst="rect">
            <a:avLst/>
          </a:prstGeom>
          <a:solidFill>
            <a:srgbClr val="EAF2F8"/>
          </a:solidFill>
        </p:spPr>
        <p:txBody>
          <a:bodyPr anchor="ctr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Inherited master</a:t>
            </a:r>
          </a:p>
        </p:txBody>
      </p:sp>
      <p:sp>
        <p:nvSpPr>
          <p:cNvPr id="14" name="Horizontal override"/>
          <p:cNvSpPr/>
          <p:nvPr>
            <p:ph type="body" idx="1"/>
          </p:nvPr>
        </p:nvSpPr>
        <p:spPr>
          <a:xfrm rot="0">
            <a:off x="8096250" y="952500"/>
            <a:ext cx="3048000" cy="762000"/>
          </a:xfrm>
          <a:prstGeom prst="rect">
            <a:avLst/>
          </a:prstGeom>
          <a:solidFill>
            <a:srgbClr val="EAF2F8"/>
          </a:solidFill>
        </p:spPr>
        <p:txBody>
          <a:bodyPr vert="horz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Horizontal override</a:t>
            </a:r>
          </a:p>
        </p:txBody>
      </p:sp>
      <p:sp>
        <p:nvSpPr>
          <p:cNvPr id="15" name="Autofit keeps the text inside its vertical area"/>
          <p:cNvSpPr/>
          <p:nvPr/>
        </p:nvSpPr>
        <p:spPr>
          <a:xfrm rot="0">
            <a:off x="9144000" y="2667000"/>
            <a:ext cx="619125" cy="3238500"/>
          </a:xfrm>
          <a:prstGeom prst="rect">
            <a:avLst/>
          </a:prstGeom>
          <a:solidFill>
            <a:srgbClr val="EAF2F8"/>
          </a:solidFill>
        </p:spPr>
        <p:txBody>
          <a:bodyPr vert="vert" anchor="ctr" lIns="91440" rIns="91440" tIns="45720" bIns="45720">
            <a:normAutofit fontScale="85000"/>
          </a:bodyPr>
          <a:lstStyle/>
          <a:p>
            <a:pPr>
              <a:buNone/>
            </a:pPr>
            <a:r>
              <a:rPr sz="2400">
                <a:solidFill>
                  <a:srgbClr val="17365D"/>
                </a:solidFill>
                <a:latin typeface="Arial"/>
              </a:rPr>
              <a:t>Autofit keeps the text inside its vertical area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Unchanged horizontal rotation controls"/>
          <p:cNvSpPr/>
          <p:nvPr/>
        </p:nvSpPr>
        <p:spPr>
          <a:xfrm rot="0">
            <a:off x="381000" y="190500"/>
            <a:ext cx="11430000" cy="476250"/>
          </a:xfrm>
          <a:prstGeom prst="rect">
            <a:avLst/>
          </a:prstGeom>
          <a:solidFill>
            <a:srgbClr val="FFFFFF"/>
          </a:solidFill>
        </p:spPr>
        <p:txBody>
          <a:bodyPr lIns="91440" rIns="91440" tIns="45720" bIns="45720"/>
          <a:lstStyle/>
          <a:p>
            <a:pPr>
              <a:buNone/>
            </a:pPr>
            <a:r>
              <a:rPr sz="2400">
                <a:solidFill>
                  <a:srgbClr val="17365D"/>
                </a:solidFill>
                <a:latin typeface="Arial"/>
              </a:rPr>
              <a:t>Unchanged horizontal rotation controls</a:t>
            </a:r>
          </a:p>
        </p:txBody>
      </p:sp>
      <p:sp>
        <p:nvSpPr>
          <p:cNvPr id="20" name="Negative rotation"/>
          <p:cNvSpPr/>
          <p:nvPr/>
        </p:nvSpPr>
        <p:spPr>
          <a:xfrm rot="-900000">
            <a:off x="952500" y="1428750"/>
            <a:ext cx="3619500" cy="857250"/>
          </a:xfrm>
          <a:prstGeom prst="rect">
            <a:avLst/>
          </a:prstGeom>
          <a:solidFill>
            <a:srgbClr val="EAF2F8"/>
          </a:solidFill>
        </p:spPr>
        <p:txBody>
          <a:bodyPr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Negative rotation</a:t>
            </a:r>
          </a:p>
        </p:txBody>
      </p:sp>
      <p:sp>
        <p:nvSpPr>
          <p:cNvPr id="21" name="More than one turn"/>
          <p:cNvSpPr/>
          <p:nvPr/>
        </p:nvSpPr>
        <p:spPr>
          <a:xfrm rot="23400000">
            <a:off x="6477000" y="1428750"/>
            <a:ext cx="3619500" cy="857250"/>
          </a:xfrm>
          <a:prstGeom prst="rect">
            <a:avLst/>
          </a:prstGeom>
          <a:solidFill>
            <a:srgbClr val="EAF2F8"/>
          </a:solidFill>
        </p:spPr>
        <p:txBody>
          <a:bodyPr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More than one turn</a:t>
            </a:r>
          </a:p>
        </p:txBody>
      </p:sp>
      <p:sp>
        <p:nvSpPr>
          <p:cNvPr id="22" name="Explicit horizontal"/>
          <p:cNvSpPr/>
          <p:nvPr/>
        </p:nvSpPr>
        <p:spPr>
          <a:xfrm rot="0">
            <a:off x="952500" y="3619500"/>
            <a:ext cx="3619500" cy="857250"/>
          </a:xfrm>
          <a:prstGeom prst="rect">
            <a:avLst/>
          </a:prstGeom>
          <a:solidFill>
            <a:srgbClr val="EAF2F8"/>
          </a:solidFill>
        </p:spPr>
        <p:txBody>
          <a:bodyPr vert="horz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Explicit horizontal</a:t>
            </a:r>
          </a:p>
        </p:txBody>
      </p:sp>
      <p:sp>
        <p:nvSpPr>
          <p:cNvPr id="23" name="East Asian fallback"/>
          <p:cNvSpPr/>
          <p:nvPr/>
        </p:nvSpPr>
        <p:spPr>
          <a:xfrm rot="0">
            <a:off x="6477000" y="3619500"/>
            <a:ext cx="3619500" cy="857250"/>
          </a:xfrm>
          <a:prstGeom prst="rect">
            <a:avLst/>
          </a:prstGeom>
          <a:solidFill>
            <a:srgbClr val="EAF2F8"/>
          </a:solidFill>
        </p:spPr>
        <p:txBody>
          <a:bodyPr vert="eaVert" lIns="91440" rIns="91440" tIns="45720" bIns="4572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East Asian fallback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