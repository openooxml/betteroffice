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etterOffice Blank" preserve="1">
  <p:cSld name="BetterOffice 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tterOffice Mast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 rule"/>
          <p:cNvSpPr/>
          <p:nvPr/>
        </p:nvSpPr>
        <p:spPr>
          <a:xfrm>
            <a:off x="762000" y="6248400"/>
            <a:ext cx="10668000" cy="15240"/>
          </a:xfrm>
          <a:prstGeom prst="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3" name="Brand"/>
          <p:cNvSpPr txBox="1"/>
          <p:nvPr/>
        </p:nvSpPr>
        <p:spPr>
          <a:xfrm>
            <a:off x="76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00" b="1">
                <a:solidFill>
                  <a:srgbClr val="101828"/>
                </a:solidFill>
                <a:latin typeface="Arial"/>
              </a:rPr>
              <a:t>betteroffice</a:t>
            </a:r>
            <a:endParaRPr lang="en-US" sz="1800"/>
          </a:p>
        </p:txBody>
      </p:sp>
      <p:sp>
        <p:nvSpPr>
          <p:cNvPr id="4" name="Open OOXML label"/>
          <p:cNvSpPr txBox="1"/>
          <p:nvPr/>
        </p:nvSpPr>
        <p:spPr>
          <a:xfrm>
            <a:off x="838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r" lvl="0"/>
            <a:r>
              <a:rPr lang="en-US" sz="800" b="1">
                <a:solidFill>
                  <a:srgbClr val="667085"/>
                </a:solidFill>
                <a:latin typeface="Arial"/>
              </a:rPr>
              <a:t>OPEN OOXML  /  LOCAL-FIRST</a:t>
            </a:r>
            <a:endParaRPr lang="en-US" sz="1800"/>
          </a:p>
        </p:txBody>
      </p:sp>
    </p:spTree>
  </p:cSld>
  <p:clrMap accent1="accent1" accent2="accent2" accent3="accent3" accent4="accent4" accent5="accent5" accent6="accent6" hlink="hlink" folHlink="folHlink" bg1="lt1" tx1="dk1" bg2="lt2" tx2="dk2"/>
  <p:sldLayoutIdLst>
    <p:sldLayoutId id="2147483649" r:id="rId1"/>
  </p:sldLayoutIdLst>
  <p:txStyles>
    <p:titleStyle>
      <a:lvl1pPr algn="l">
        <a:defRPr sz="3200" b="1">
          <a:solidFill>
            <a:schemeClr val="dk1"/>
          </a:solidFill>
          <a:latin typeface="+mj-lt"/>
        </a:defRPr>
      </a:lvl1pPr>
    </p:titleStyle>
    <p:bodyStyle>
      <a:lvl1pPr marL="342900" indent="-342900">
        <a:buChar char="•"/>
        <a:defRPr sz="1800">
          <a:solidFill>
            <a:schemeClr val="dk1"/>
          </a:solidFill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etteroffice-mark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Up 35"/>
          <p:cNvSpPr/>
          <p:nvPr/>
        </p:nvSpPr>
        <p:spPr>
          <a:xfrm rot="1645276">
            <a:off x="9221266" y="560187"/>
            <a:ext cx="468000" cy="1078605"/>
          </a:xfrm>
          <a:prstGeom prst="upArrow">
            <a:avLst>
              <a:gd name="adj1" fmla="val 55713"/>
              <a:gd name="adj2" fmla="val 80407"/>
            </a:avLst>
          </a:prstGeom>
          <a:solidFill>
            <a:srgbClr val="FFFFFF"/>
          </a:solidFill>
        </p:spPr>
      </p:sp>
      <p:sp>
        <p:nvSpPr>
          <p:cNvPr id="3" name="Wide up shaft control"/>
          <p:cNvSpPr/>
          <p:nvPr/>
        </p:nvSpPr>
        <p:spPr>
          <a:xfrm>
            <a:off x="762000" y="666750"/>
            <a:ext cx="1905000" cy="476250"/>
          </a:xfrm>
          <a:prstGeom prst="upArrow">
            <a:avLst>
              <a:gd name="adj1" fmla="val 40000"/>
              <a:gd name="adj2" fmla="val 50000"/>
            </a:avLst>
          </a:prstGeom>
          <a:solidFill>
            <a:srgbClr val="FFD966"/>
          </a:solidFill>
          <a:ln>
            <a:noFill/>
          </a:ln>
        </p:spPr>
      </p:sp>
      <p:sp>
        <p:nvSpPr>
          <p:cNvPr id="4" name="Wide down shaft control"/>
          <p:cNvSpPr/>
          <p:nvPr/>
        </p:nvSpPr>
        <p:spPr>
          <a:xfrm>
            <a:off x="3238500" y="666750"/>
            <a:ext cx="1905000" cy="476250"/>
          </a:xfrm>
          <a:prstGeom prst="downArrow">
            <a:avLst>
              <a:gd name="adj1" fmla="val 40000"/>
              <a:gd name="adj2" fmla="val 50000"/>
            </a:avLst>
          </a:prstGeom>
          <a:solidFill>
            <a:srgbClr val="FFD966"/>
          </a:solidFill>
          <a:ln>
            <a:noFill/>
          </a:ln>
        </p:spPr>
      </p:sp>
      <p:sp>
        <p:nvSpPr>
          <p:cNvPr id="5" name="Tall left shaft control"/>
          <p:cNvSpPr/>
          <p:nvPr/>
        </p:nvSpPr>
        <p:spPr>
          <a:xfrm>
            <a:off x="5715000" y="476250"/>
            <a:ext cx="476250" cy="1905000"/>
          </a:xfrm>
          <a:prstGeom prst="leftArrow">
            <a:avLst>
              <a:gd name="adj1" fmla="val 40000"/>
              <a:gd name="adj2" fmla="val 50000"/>
            </a:avLst>
          </a:prstGeom>
          <a:solidFill>
            <a:srgbClr val="FFD966"/>
          </a:solidFill>
          <a:ln>
            <a:noFill/>
          </a:ln>
        </p:spPr>
      </p:sp>
      <p:sp>
        <p:nvSpPr>
          <p:cNvPr id="6" name="Tall right shaft control"/>
          <p:cNvSpPr/>
          <p:nvPr/>
        </p:nvSpPr>
        <p:spPr>
          <a:xfrm>
            <a:off x="6953250" y="476250"/>
            <a:ext cx="476250" cy="1905000"/>
          </a:xfrm>
          <a:prstGeom prst="rightArrow">
            <a:avLst>
              <a:gd name="adj1" fmla="val 40000"/>
              <a:gd name="adj2" fmla="val 50000"/>
            </a:avLst>
          </a:prstGeom>
          <a:solidFill>
            <a:srgbClr val="FFD966"/>
          </a:solidFill>
          <a:ln>
            <a:noFill/>
          </a:ln>
        </p:spPr>
      </p:sp>
      <p:sp>
        <p:nvSpPr>
          <p:cNvPr id="7" name="Long up default head"/>
          <p:cNvSpPr/>
          <p:nvPr/>
        </p:nvSpPr>
        <p:spPr>
          <a:xfrm>
            <a:off x="952500" y="2857500"/>
            <a:ext cx="476250" cy="1905000"/>
          </a:xfrm>
          <a:prstGeom prst="upArrow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Long down default head"/>
          <p:cNvSpPr/>
          <p:nvPr/>
        </p:nvSpPr>
        <p:spPr>
          <a:xfrm>
            <a:off x="2381250" y="2857500"/>
            <a:ext cx="476250" cy="1905000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Long left head above one"/>
          <p:cNvSpPr/>
          <p:nvPr/>
        </p:nvSpPr>
        <p:spPr>
          <a:xfrm>
            <a:off x="3619500" y="2857500"/>
            <a:ext cx="1905000" cy="476250"/>
          </a:xfrm>
          <a:prstGeom prst="leftArrow">
            <a:avLst>
              <a:gd name="adj1" fmla="val 50000"/>
              <a:gd name="adj2" fmla="val 1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" name="Long right head above one"/>
          <p:cNvSpPr/>
          <p:nvPr/>
        </p:nvSpPr>
        <p:spPr>
          <a:xfrm>
            <a:off x="3619500" y="4286250"/>
            <a:ext cx="1905000" cy="476250"/>
          </a:xfrm>
          <a:prstGeom prst="rightArrow">
            <a:avLst>
              <a:gd name="adj1" fmla="val 50000"/>
              <a:gd name="adj2" fmla="val 1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" name="Square arrow control"/>
          <p:cNvSpPr/>
          <p:nvPr/>
        </p:nvSpPr>
        <p:spPr>
          <a:xfrm>
            <a:off x="6667500" y="3333750"/>
            <a:ext cx="952500" cy="952500"/>
          </a:xfrm>
          <a:prstGeom prst="upArrow">
            <a:avLst>
              <a:gd name="adj1" fmla="val 40000"/>
              <a:gd name="adj2" fmla="val 70000"/>
            </a:avLst>
          </a:prstGeom>
          <a:solidFill>
            <a:srgbClr val="70AD47"/>
          </a:solidFill>
          <a:ln>
            <a:noFill/>
          </a:ln>
        </p:spPr>
      </p:sp>
      <p:sp>
        <p:nvSpPr>
          <p:cNvPr id="12" name="Rectangle control"/>
          <p:cNvSpPr/>
          <p:nvPr/>
        </p:nvSpPr>
        <p:spPr>
          <a:xfrm>
            <a:off x="8572500" y="3333750"/>
            <a:ext cx="952500" cy="952500"/>
          </a:xfrm>
          <a:prstGeom prst="rect">
            <a:avLst/>
          </a:prstGeom>
          <a:solidFill>
            <a:srgbClr val="70AD47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accent"/>
          <p:cNvSpPr/>
          <p:nvPr/>
        </p:nvSpPr>
        <p:spPr>
          <a:xfrm>
            <a:off x="762000" y="533400"/>
            <a:ext cx="99060" cy="4572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" name="Section label"/>
          <p:cNvSpPr txBox="1"/>
          <p:nvPr/>
        </p:nvSpPr>
        <p:spPr>
          <a:xfrm>
            <a:off x="990600" y="510540"/>
            <a:ext cx="25146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315EFB"/>
                </a:solidFill>
                <a:latin typeface="Arial"/>
              </a:rPr>
              <a:t>ONE NATIVE STACK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762000" y="9906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3200" b="1">
                <a:solidFill>
                  <a:srgbClr val="101828"/>
                </a:solidFill>
                <a:latin typeface="Arial"/>
              </a:rPr>
              <a:t>Three formats. One resident engine.</a:t>
            </a:r>
            <a:endParaRPr lang="en-US" sz="1800"/>
          </a:p>
        </p:txBody>
      </p:sp>
      <p:sp>
        <p:nvSpPr>
          <p:cNvPr id="5" name="Subtitle"/>
          <p:cNvSpPr txBox="1"/>
          <p:nvPr/>
        </p:nvSpPr>
        <p:spPr>
          <a:xfrm>
            <a:off x="762000" y="1676400"/>
            <a:ext cx="9144000" cy="5334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400">
                <a:solidFill>
                  <a:srgbClr val="667085"/>
                </a:solidFill>
                <a:latin typeface="Arial"/>
              </a:rPr>
              <a:t>No conversions. No round-trips. Every edit stays inside the file model.</a:t>
            </a:r>
            <a:endParaRPr lang="en-US" sz="1800"/>
          </a:p>
        </p:txBody>
      </p:sp>
      <p:sp>
        <p:nvSpPr>
          <p:cNvPr id="6" name="Format connector"/>
          <p:cNvSpPr/>
          <p:nvPr/>
        </p:nvSpPr>
        <p:spPr>
          <a:xfrm>
            <a:off x="2133600" y="3261360"/>
            <a:ext cx="7894320" cy="22860"/>
          </a:xfrm>
          <a:prstGeom prst="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7" name="DOCX card"/>
          <p:cNvSpPr txBox="1"/>
          <p:nvPr/>
        </p:nvSpPr>
        <p:spPr>
          <a:xfrm>
            <a:off x="762000" y="2286000"/>
            <a:ext cx="3200400" cy="9906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1FF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315EFB"/>
                </a:solidFill>
                <a:latin typeface="Arial"/>
              </a:rPr>
              <a:t>DOCX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flow layout</a:t>
            </a:r>
            <a:endParaRPr lang="en-US" sz="1800"/>
          </a:p>
        </p:txBody>
      </p:sp>
      <p:sp>
        <p:nvSpPr>
          <p:cNvPr id="8" name="XLSX card"/>
          <p:cNvSpPr txBox="1"/>
          <p:nvPr/>
        </p:nvSpPr>
        <p:spPr>
          <a:xfrm>
            <a:off x="4495800" y="2286000"/>
            <a:ext cx="3200400" cy="990600"/>
          </a:xfrm>
          <a:prstGeom prst="roundRect">
            <a:avLst/>
          </a:prstGeom>
          <a:solidFill>
            <a:srgbClr val="E7F8EF"/>
          </a:solidFill>
          <a:ln w="19050">
            <a:solidFill>
              <a:srgbClr val="B7E7D0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16825D"/>
                </a:solidFill>
                <a:latin typeface="Arial"/>
              </a:rPr>
              <a:t>XLSX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calculation grid</a:t>
            </a:r>
            <a:endParaRPr lang="en-US" sz="1800"/>
          </a:p>
        </p:txBody>
      </p:sp>
      <p:sp>
        <p:nvSpPr>
          <p:cNvPr id="9" name="PPTX card"/>
          <p:cNvSpPr txBox="1"/>
          <p:nvPr/>
        </p:nvSpPr>
        <p:spPr>
          <a:xfrm>
            <a:off x="8229600" y="2286000"/>
            <a:ext cx="3200400" cy="990600"/>
          </a:xfrm>
          <a:prstGeom prst="roundRect">
            <a:avLst/>
          </a:prstGeom>
          <a:solidFill>
            <a:srgbClr val="FFF0EA"/>
          </a:solidFill>
          <a:ln w="19050">
            <a:solidFill>
              <a:srgbClr val="FFD0C4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D94F35"/>
                </a:solidFill>
                <a:latin typeface="Arial"/>
              </a:rPr>
              <a:t>PPTX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slide canvas</a:t>
            </a:r>
            <a:endParaRPr lang="en-US" sz="1800"/>
          </a:p>
        </p:txBody>
      </p:sp>
      <p:sp>
        <p:nvSpPr>
          <p:cNvPr id="10" name="Engine panel"/>
          <p:cNvSpPr/>
          <p:nvPr/>
        </p:nvSpPr>
        <p:spPr>
          <a:xfrm>
            <a:off x="762000" y="3657600"/>
            <a:ext cx="10668000" cy="2438400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1" name="Engine label"/>
          <p:cNvSpPr txBox="1"/>
          <p:nvPr/>
        </p:nvSpPr>
        <p:spPr>
          <a:xfrm>
            <a:off x="1066800" y="3886200"/>
            <a:ext cx="35052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C8F56A"/>
                </a:solidFill>
                <a:latin typeface="Arial"/>
              </a:rPr>
              <a:t>RUST CORE  /  ONE MODEL</a:t>
            </a:r>
            <a:endParaRPr lang="en-US" sz="1800"/>
          </a:p>
        </p:txBody>
      </p:sp>
      <p:sp>
        <p:nvSpPr>
          <p:cNvPr id="12" name="Parse contract"/>
          <p:cNvSpPr txBox="1"/>
          <p:nvPr/>
        </p:nvSpPr>
        <p:spPr>
          <a:xfrm>
            <a:off x="10668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C8F56A"/>
                </a:solidFill>
                <a:latin typeface="Arial"/>
              </a:rPr>
              <a:t>PARSE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guarded OPC parts</a:t>
            </a:r>
            <a:endParaRPr lang="en-US" sz="1800"/>
          </a:p>
        </p:txBody>
      </p:sp>
      <p:sp>
        <p:nvSpPr>
          <p:cNvPr id="13" name="Model contract"/>
          <p:cNvSpPr txBox="1"/>
          <p:nvPr/>
        </p:nvSpPr>
        <p:spPr>
          <a:xfrm>
            <a:off x="36576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8AB4FF"/>
                </a:solidFill>
                <a:latin typeface="Arial"/>
              </a:rPr>
              <a:t>MODEL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local CRDT state</a:t>
            </a:r>
            <a:endParaRPr lang="en-US" sz="1800"/>
          </a:p>
        </p:txBody>
      </p:sp>
      <p:sp>
        <p:nvSpPr>
          <p:cNvPr id="14" name="Layout contract"/>
          <p:cNvSpPr txBox="1"/>
          <p:nvPr/>
        </p:nvSpPr>
        <p:spPr>
          <a:xfrm>
            <a:off x="62484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FF8066"/>
                </a:solidFill>
                <a:latin typeface="Arial"/>
              </a:rPr>
              <a:t>LAYOUT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shaped text + pixels</a:t>
            </a:r>
            <a:endParaRPr lang="en-US" sz="1800"/>
          </a:p>
        </p:txBody>
      </p:sp>
      <p:sp>
        <p:nvSpPr>
          <p:cNvPr id="15" name="Emit contract"/>
          <p:cNvSpPr txBox="1"/>
          <p:nvPr/>
        </p:nvSpPr>
        <p:spPr>
          <a:xfrm>
            <a:off x="88392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FFD166"/>
                </a:solidFill>
                <a:latin typeface="Arial"/>
              </a:rPr>
              <a:t>EMIT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OOXML bytes retained</a:t>
            </a:r>
            <a:endParaRPr lang="en-US" sz="1800"/>
          </a:p>
        </p:txBody>
      </p:sp>
      <p:sp>
        <p:nvSpPr>
          <p:cNvPr id="16" name="Panel divider one"/>
          <p:cNvSpPr/>
          <p:nvPr/>
        </p:nvSpPr>
        <p:spPr>
          <a:xfrm>
            <a:off x="33528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sp>
        <p:nvSpPr>
          <p:cNvPr id="17" name="Panel divider two"/>
          <p:cNvSpPr/>
          <p:nvPr/>
        </p:nvSpPr>
        <p:spPr>
          <a:xfrm>
            <a:off x="59436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sp>
        <p:nvSpPr>
          <p:cNvPr id="18" name="Panel divider three"/>
          <p:cNvSpPr/>
          <p:nvPr/>
        </p:nvSpPr>
        <p:spPr>
          <a:xfrm>
            <a:off x="85344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graphicFrame>
        <p:nvGraphicFramePr>
          <p:cNvPr id="90" name="Architecture table fixture"/>
          <p:cNvGraphicFramePr/>
          <p:nvPr/>
        </p:nvGraphicFramePr>
        <p:xfrm>
          <a:off x="12192000" y="6858000"/>
          <a:ext cx="1" cy="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2438400"/>
                <a:gridCol w="2895600"/>
                <a:gridCol w="3352800"/>
              </a:tblGrid>
              <a:tr h="6096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Rust owner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Contract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Boundary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OPC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Guarded parts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No external fetch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Model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PresentationML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Typed slide tree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Untouched bytes retained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Editing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CRDT deck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Local-origin undo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Raw update exchange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Output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Slide layout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Shaped text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Canvas display list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/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accent"/>
          <p:cNvSpPr/>
          <p:nvPr/>
        </p:nvSpPr>
        <p:spPr>
          <a:xfrm>
            <a:off x="762000" y="533400"/>
            <a:ext cx="99060" cy="4572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" name="Section label"/>
          <p:cNvSpPr txBox="1"/>
          <p:nvPr/>
        </p:nvSpPr>
        <p:spPr>
          <a:xfrm>
            <a:off x="990600" y="510540"/>
            <a:ext cx="25146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315EFB"/>
                </a:solidFill>
                <a:latin typeface="Arial"/>
              </a:rPr>
              <a:t>LIVE COLLABORATION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762000" y="1066800"/>
            <a:ext cx="5334000" cy="1600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3600" b="1">
                <a:solidFill>
                  <a:srgbClr val="101828"/>
                </a:solidFill>
                <a:latin typeface="Arial"/>
              </a:rPr>
              <a:t>Multiplayer,</a:t>
            </a:r>
            <a:endParaRPr lang="en-US" sz="1800"/>
          </a:p>
          <a:p>
            <a:pPr algn="l" lvl="0"/>
            <a:r>
              <a:rPr lang="en-US" sz="3600" b="1">
                <a:solidFill>
                  <a:srgbClr val="315EFB"/>
                </a:solidFill>
                <a:latin typeface="Arial"/>
              </a:rPr>
              <a:t>minus the server tax.</a:t>
            </a:r>
            <a:endParaRPr lang="en-US" sz="1800"/>
          </a:p>
        </p:txBody>
      </p:sp>
      <p:sp>
        <p:nvSpPr>
          <p:cNvPr id="5" name="Subtitle"/>
          <p:cNvSpPr txBox="1"/>
          <p:nvPr/>
        </p:nvSpPr>
        <p:spPr>
          <a:xfrm>
            <a:off x="762000" y="2667000"/>
            <a:ext cx="5105400" cy="762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>
                <a:solidFill>
                  <a:srgbClr val="475467"/>
                </a:solidFill>
                <a:latin typeface="Arial"/>
              </a:rPr>
              <a:t>Every keystroke lands locally first. Peers exchange only updates, then converge on the same file.</a:t>
            </a:r>
            <a:endParaRPr lang="en-US" sz="1800"/>
          </a:p>
        </p:txBody>
      </p:sp>
      <p:sp>
        <p:nvSpPr>
          <p:cNvPr id="6" name="Local first step"/>
          <p:cNvSpPr txBox="1"/>
          <p:nvPr/>
        </p:nvSpPr>
        <p:spPr>
          <a:xfrm>
            <a:off x="762000" y="35433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E0FF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315EFB"/>
                </a:solidFill>
                <a:latin typeface="Arial"/>
              </a:rPr>
              <a:t>01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Edit locally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Resident model. Instant feedback.</a:t>
            </a:r>
            <a:endParaRPr lang="en-US" sz="1800"/>
          </a:p>
        </p:txBody>
      </p:sp>
      <p:sp>
        <p:nvSpPr>
          <p:cNvPr id="7" name="Exchange updates step"/>
          <p:cNvSpPr txBox="1"/>
          <p:nvPr/>
        </p:nvSpPr>
        <p:spPr>
          <a:xfrm>
            <a:off x="762000" y="43815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0C4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D94F35"/>
                </a:solidFill>
                <a:latin typeface="Arial"/>
              </a:rPr>
              <a:t>02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Exchange updates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Compact binary deltas. Nothing else.</a:t>
            </a:r>
            <a:endParaRPr lang="en-US" sz="1800"/>
          </a:p>
        </p:txBody>
      </p:sp>
      <p:sp>
        <p:nvSpPr>
          <p:cNvPr id="8" name="Converge step"/>
          <p:cNvSpPr txBox="1"/>
          <p:nvPr/>
        </p:nvSpPr>
        <p:spPr>
          <a:xfrm>
            <a:off x="762000" y="52197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7E7D0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16825D"/>
                </a:solidFill>
                <a:latin typeface="Arial"/>
              </a:rPr>
              <a:t>03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Converge everywhere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One state across every peer.</a:t>
            </a:r>
            <a:endParaRPr lang="en-US" sz="1800"/>
          </a:p>
        </p:txBody>
      </p:sp>
      <p:sp>
        <p:nvSpPr>
          <p:cNvPr id="20" name="Live session panel"/>
          <p:cNvSpPr/>
          <p:nvPr/>
        </p:nvSpPr>
        <p:spPr>
          <a:xfrm>
            <a:off x="6400800" y="609600"/>
            <a:ext cx="5029200" cy="5486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1FF"/>
            </a:solidFill>
          </a:ln>
        </p:spPr>
      </p:sp>
      <p:sp>
        <p:nvSpPr>
          <p:cNvPr id="21" name="Live session title"/>
          <p:cNvSpPr txBox="1"/>
          <p:nvPr/>
        </p:nvSpPr>
        <p:spPr>
          <a:xfrm>
            <a:off x="6781800" y="8382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101828"/>
                </a:solidFill>
                <a:latin typeface="Arial"/>
              </a:rPr>
              <a:t>Q3 launch deck</a:t>
            </a:r>
            <a:endParaRPr lang="en-US" sz="1800"/>
          </a:p>
        </p:txBody>
      </p:sp>
      <p:sp>
        <p:nvSpPr>
          <p:cNvPr id="22" name="Peer one"/>
          <p:cNvSpPr/>
          <p:nvPr/>
        </p:nvSpPr>
        <p:spPr>
          <a:xfrm>
            <a:off x="10058400" y="838200"/>
            <a:ext cx="342900" cy="342900"/>
          </a:xfrm>
          <a:prstGeom prst="ellipse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23" name="Peer two"/>
          <p:cNvSpPr/>
          <p:nvPr/>
        </p:nvSpPr>
        <p:spPr>
          <a:xfrm>
            <a:off x="10439400" y="838200"/>
            <a:ext cx="342900" cy="342900"/>
          </a:xfrm>
          <a:prstGeom prst="ellipse">
            <a:avLst/>
          </a:prstGeom>
          <a:solidFill>
            <a:srgbClr val="FF8066"/>
          </a:solidFill>
          <a:ln>
            <a:noFill/>
          </a:ln>
        </p:spPr>
      </p:sp>
      <p:sp>
        <p:nvSpPr>
          <p:cNvPr id="24" name="Peer three"/>
          <p:cNvSpPr/>
          <p:nvPr/>
        </p:nvSpPr>
        <p:spPr>
          <a:xfrm>
            <a:off x="10820400" y="838200"/>
            <a:ext cx="342900" cy="342900"/>
          </a:xfrm>
          <a:prstGeom prst="ellipse">
            <a:avLst/>
          </a:prstGeom>
          <a:solidFill>
            <a:srgbClr val="48C78E"/>
          </a:solidFill>
          <a:ln>
            <a:noFill/>
          </a:ln>
        </p:spPr>
      </p:sp>
      <p:sp>
        <p:nvSpPr>
          <p:cNvPr id="25" name="Shared canvas"/>
          <p:cNvSpPr/>
          <p:nvPr/>
        </p:nvSpPr>
        <p:spPr>
          <a:xfrm>
            <a:off x="6781800" y="1524000"/>
            <a:ext cx="4267200" cy="3429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4E7EC"/>
            </a:solidFill>
          </a:ln>
        </p:spPr>
      </p:sp>
      <p:sp>
        <p:nvSpPr>
          <p:cNvPr id="26" name="Shared canvas heading"/>
          <p:cNvSpPr txBox="1"/>
          <p:nvPr/>
        </p:nvSpPr>
        <p:spPr>
          <a:xfrm>
            <a:off x="7086600" y="1828800"/>
            <a:ext cx="3048000" cy="5334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800" b="1">
                <a:solidFill>
                  <a:srgbClr val="101828"/>
                </a:solidFill>
                <a:latin typeface="Arial"/>
              </a:rPr>
              <a:t>Launch narrative</a:t>
            </a:r>
            <a:endParaRPr lang="en-US" sz="1800"/>
          </a:p>
        </p:txBody>
      </p:sp>
      <p:sp>
        <p:nvSpPr>
          <p:cNvPr id="27" name="Canvas line one"/>
          <p:cNvSpPr/>
          <p:nvPr/>
        </p:nvSpPr>
        <p:spPr>
          <a:xfrm>
            <a:off x="7086600" y="2590800"/>
            <a:ext cx="2819400" cy="91440"/>
          </a:xfrm>
          <a:prstGeom prst="round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28" name="Canvas line two"/>
          <p:cNvSpPr/>
          <p:nvPr/>
        </p:nvSpPr>
        <p:spPr>
          <a:xfrm>
            <a:off x="7086600" y="2819400"/>
            <a:ext cx="2133600" cy="91440"/>
          </a:xfrm>
          <a:prstGeom prst="round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29" name="Canvas card one"/>
          <p:cNvSpPr/>
          <p:nvPr/>
        </p:nvSpPr>
        <p:spPr>
          <a:xfrm>
            <a:off x="7086600" y="3352800"/>
            <a:ext cx="1524000" cy="990600"/>
          </a:xfrm>
          <a:prstGeom prst="roundRect">
            <a:avLst/>
          </a:prstGeom>
          <a:solidFill>
            <a:srgbClr val="E6EBFF"/>
          </a:solidFill>
          <a:ln>
            <a:noFill/>
          </a:ln>
        </p:spPr>
      </p:sp>
      <p:sp>
        <p:nvSpPr>
          <p:cNvPr id="30" name="Canvas card two"/>
          <p:cNvSpPr/>
          <p:nvPr/>
        </p:nvSpPr>
        <p:spPr>
          <a:xfrm>
            <a:off x="8839200" y="3352800"/>
            <a:ext cx="1905000" cy="990600"/>
          </a:xfrm>
          <a:prstGeom prst="roundRect">
            <a:avLst/>
          </a:prstGeom>
          <a:solidFill>
            <a:srgbClr val="E7F8EF"/>
          </a:solidFill>
          <a:ln>
            <a:noFill/>
          </a:ln>
        </p:spPr>
      </p:sp>
      <p:sp>
        <p:nvSpPr>
          <p:cNvPr id="31" name="You cursor"/>
          <p:cNvSpPr txBox="1"/>
          <p:nvPr/>
        </p:nvSpPr>
        <p:spPr>
          <a:xfrm>
            <a:off x="6934200" y="3048000"/>
            <a:ext cx="762000" cy="3810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800" b="1">
                <a:solidFill>
                  <a:srgbClr val="FFFFFF"/>
                </a:solidFill>
                <a:latin typeface="Arial"/>
              </a:rPr>
              <a:t>YOU</a:t>
            </a:r>
            <a:endParaRPr lang="en-US" sz="1800"/>
          </a:p>
        </p:txBody>
      </p:sp>
      <p:sp>
        <p:nvSpPr>
          <p:cNvPr id="32" name="You cursor line"/>
          <p:cNvSpPr/>
          <p:nvPr/>
        </p:nvSpPr>
        <p:spPr>
          <a:xfrm>
            <a:off x="7315200" y="3390900"/>
            <a:ext cx="15240" cy="762000"/>
          </a:xfrm>
          <a:prstGeom prst="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3" name="Maya cursor"/>
          <p:cNvSpPr txBox="1"/>
          <p:nvPr/>
        </p:nvSpPr>
        <p:spPr>
          <a:xfrm>
            <a:off x="9677400" y="2286000"/>
            <a:ext cx="838200" cy="381000"/>
          </a:xfrm>
          <a:prstGeom prst="roundRect">
            <a:avLst/>
          </a:prstGeom>
          <a:solidFill>
            <a:srgbClr val="FF8066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800" b="1">
                <a:solidFill>
                  <a:srgbClr val="101828"/>
                </a:solidFill>
                <a:latin typeface="Arial"/>
              </a:rPr>
              <a:t>MAYA</a:t>
            </a:r>
            <a:endParaRPr lang="en-US" sz="1800"/>
          </a:p>
        </p:txBody>
      </p:sp>
      <p:sp>
        <p:nvSpPr>
          <p:cNvPr id="34" name="Maya cursor line"/>
          <p:cNvSpPr/>
          <p:nvPr/>
        </p:nvSpPr>
        <p:spPr>
          <a:xfrm>
            <a:off x="10096500" y="2628900"/>
            <a:ext cx="15240" cy="914400"/>
          </a:xfrm>
          <a:prstGeom prst="rect">
            <a:avLst/>
          </a:prstGeom>
          <a:solidFill>
            <a:srgbClr val="FF8066"/>
          </a:solidFill>
          <a:ln>
            <a:noFill/>
          </a:ln>
        </p:spPr>
      </p:sp>
      <p:sp>
        <p:nvSpPr>
          <p:cNvPr id="35" name="Session status"/>
          <p:cNvSpPr txBox="1"/>
          <p:nvPr/>
        </p:nvSpPr>
        <p:spPr>
          <a:xfrm>
            <a:off x="6781800" y="5181600"/>
            <a:ext cx="4267200" cy="533400"/>
          </a:xfrm>
          <a:prstGeom prst="roundRect">
            <a:avLst/>
          </a:prstGeom>
          <a:solidFill>
            <a:srgbClr val="C8F56A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50" b="1">
                <a:solidFill>
                  <a:srgbClr val="101828"/>
                </a:solidFill>
                <a:latin typeface="Arial"/>
              </a:rPr>
              <a:t>3 peers  ·  synced  ·  local-first</a:t>
            </a:r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tterOffice">
  <a:themeElements>
    <a:clrScheme name="BetterOffice">
      <a:dk1>
        <a:srgbClr val="101828"/>
      </a:dk1>
      <a:lt1>
        <a:srgbClr val="FFFFFF"/>
      </a:lt1>
      <a:dk2>
        <a:srgbClr val="1D2939"/>
      </a:dk2>
      <a:lt2>
        <a:srgbClr val="F8F7F2"/>
      </a:lt2>
      <a:accent1>
        <a:srgbClr val="315EFB"/>
      </a:accent1>
      <a:accent2>
        <a:srgbClr val="16825D"/>
      </a:accent2>
      <a:accent3>
        <a:srgbClr val="D94F35"/>
      </a:accent3>
      <a:accent4>
        <a:srgbClr val="C8F56A"/>
      </a:accent4>
      <a:accent5>
        <a:srgbClr val="8AB4FF"/>
      </a:accent5>
      <a:accent6>
        <a:srgbClr val="667085"/>
      </a:accent6>
      <a:hlink>
        <a:srgbClr val="315EFB"/>
      </a:hlink>
      <a:folHlink>
        <a:srgbClr val="5D6DCB"/>
      </a:folHlink>
    </a:clrScheme>
    <a:fontScheme name="Better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etter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905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BetterOffice</Application>
  <PresentationFormat>Widescreen</PresentationFormat>
  <Slides>3</Slides>
  <Notes>0</Notes>
  <HiddenSlides>0</HiddenSlides>
  <Company>BetterOffice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BetterOffice — office files without the office</dc:title>
  <dc:creator>BetterOffice</dc:creator>
  <cp:lastModifiedBy>BetterOffice</cp:lastModifiedBy>
  <dcterms:created xsi:type="dcterms:W3CDTF">2026-01-01T00:00:00Z</dcterms:created>
  <dcterms:modified xsi:type="dcterms:W3CDTF">2026-01-01T00:00:00Z</dcterms:modified>
</cp:coreProperties>
</file>