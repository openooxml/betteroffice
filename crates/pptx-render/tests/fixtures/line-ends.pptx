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-PPTX line ends: width / length (4 px strokes)"/>
          <p:cNvSpPr/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PPTX line ends: width / length (4 px strokes)</a:t>
            </a:r>
          </a:p>
        </p:txBody>
      </p:sp>
      <p:sp>
        <p:nvSpPr>
          <p:cNvPr id="4" name="label-triangle-sm-lg"/>
          <p:cNvSpPr/>
          <p:nvPr/>
        </p:nvSpPr>
        <p:spPr>
          <a:xfrm>
            <a:off x="762000" y="80010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triangle-sm-lg</a:t>
            </a:r>
          </a:p>
        </p:txBody>
      </p:sp>
      <p:sp>
        <p:nvSpPr>
          <p:cNvPr id="5" name="triangle-sm-lg"/>
          <p:cNvSpPr/>
          <p:nvPr/>
        </p:nvSpPr>
        <p:spPr>
          <a:xfrm>
            <a:off x="762000" y="114300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triangle" w="sm" len="lg"/>
            <a:tailEnd type="triangle" w="lg" len="sm"/>
          </a:ln>
        </p:spPr>
      </p:sp>
      <p:sp>
        <p:nvSpPr>
          <p:cNvPr id="6" name="label-triangle-med-sm"/>
          <p:cNvSpPr/>
          <p:nvPr/>
        </p:nvSpPr>
        <p:spPr>
          <a:xfrm>
            <a:off x="4572000" y="80010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triangle-med-sm</a:t>
            </a:r>
          </a:p>
        </p:txBody>
      </p:sp>
      <p:sp>
        <p:nvSpPr>
          <p:cNvPr id="7" name="triangle-med-sm"/>
          <p:cNvSpPr/>
          <p:nvPr/>
        </p:nvSpPr>
        <p:spPr>
          <a:xfrm>
            <a:off x="4572000" y="114300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triangle" w="med" len="sm"/>
            <a:tailEnd type="triangle" w="sm" len="med"/>
          </a:ln>
        </p:spPr>
      </p:sp>
      <p:sp>
        <p:nvSpPr>
          <p:cNvPr id="8" name="label-triangle-lg-med"/>
          <p:cNvSpPr/>
          <p:nvPr/>
        </p:nvSpPr>
        <p:spPr>
          <a:xfrm>
            <a:off x="8382000" y="80010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triangle-lg-med</a:t>
            </a:r>
          </a:p>
        </p:txBody>
      </p:sp>
      <p:sp>
        <p:nvSpPr>
          <p:cNvPr id="9" name="triangle-lg-med"/>
          <p:cNvSpPr/>
          <p:nvPr/>
        </p:nvSpPr>
        <p:spPr>
          <a:xfrm>
            <a:off x="8382000" y="114300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triangle" w="lg" len="med"/>
            <a:tailEnd type="triangle" w="med" len="lg"/>
          </a:ln>
        </p:spPr>
      </p:sp>
      <p:sp>
        <p:nvSpPr>
          <p:cNvPr id="10" name="label-arrow-sm-lg"/>
          <p:cNvSpPr/>
          <p:nvPr/>
        </p:nvSpPr>
        <p:spPr>
          <a:xfrm>
            <a:off x="762000" y="1609725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arrow-sm-lg</a:t>
            </a:r>
          </a:p>
        </p:txBody>
      </p:sp>
      <p:sp>
        <p:nvSpPr>
          <p:cNvPr id="11" name="arrow-sm-lg"/>
          <p:cNvSpPr/>
          <p:nvPr/>
        </p:nvSpPr>
        <p:spPr>
          <a:xfrm>
            <a:off x="762000" y="1952625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dash"/>
            <a:headEnd type="arrow" w="sm" len="lg"/>
            <a:tailEnd type="arrow" w="lg" len="sm"/>
          </a:ln>
        </p:spPr>
      </p:sp>
      <p:sp>
        <p:nvSpPr>
          <p:cNvPr id="12" name="label-arrow-med-sm"/>
          <p:cNvSpPr/>
          <p:nvPr/>
        </p:nvSpPr>
        <p:spPr>
          <a:xfrm>
            <a:off x="4572000" y="1609725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arrow-med-sm</a:t>
            </a:r>
          </a:p>
        </p:txBody>
      </p:sp>
      <p:sp>
        <p:nvSpPr>
          <p:cNvPr id="13" name="arrow-med-sm"/>
          <p:cNvSpPr/>
          <p:nvPr/>
        </p:nvSpPr>
        <p:spPr>
          <a:xfrm>
            <a:off x="4572000" y="1952625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dash"/>
            <a:headEnd type="arrow" w="med" len="sm"/>
            <a:tailEnd type="arrow" w="sm" len="med"/>
          </a:ln>
        </p:spPr>
      </p:sp>
      <p:sp>
        <p:nvSpPr>
          <p:cNvPr id="14" name="label-arrow-lg-med"/>
          <p:cNvSpPr/>
          <p:nvPr/>
        </p:nvSpPr>
        <p:spPr>
          <a:xfrm>
            <a:off x="8382000" y="1609725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arrow-lg-med</a:t>
            </a:r>
          </a:p>
        </p:txBody>
      </p:sp>
      <p:sp>
        <p:nvSpPr>
          <p:cNvPr id="15" name="arrow-lg-med"/>
          <p:cNvSpPr/>
          <p:nvPr/>
        </p:nvSpPr>
        <p:spPr>
          <a:xfrm>
            <a:off x="8382000" y="1952625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dash"/>
            <a:headEnd type="arrow" w="lg" len="med"/>
            <a:tailEnd type="arrow" w="med" len="lg"/>
          </a:ln>
        </p:spPr>
      </p:sp>
      <p:sp>
        <p:nvSpPr>
          <p:cNvPr id="16" name="label-stealth-sm-lg"/>
          <p:cNvSpPr/>
          <p:nvPr/>
        </p:nvSpPr>
        <p:spPr>
          <a:xfrm>
            <a:off x="762000" y="24193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stealth-sm-lg</a:t>
            </a:r>
          </a:p>
        </p:txBody>
      </p:sp>
      <p:sp>
        <p:nvSpPr>
          <p:cNvPr id="17" name="stealth-sm-lg"/>
          <p:cNvSpPr/>
          <p:nvPr/>
        </p:nvSpPr>
        <p:spPr>
          <a:xfrm>
            <a:off x="762000" y="276225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stealth" w="sm" len="lg"/>
            <a:tailEnd type="stealth" w="lg" len="sm"/>
          </a:ln>
        </p:spPr>
      </p:sp>
      <p:sp>
        <p:nvSpPr>
          <p:cNvPr id="18" name="label-stealth-med-sm"/>
          <p:cNvSpPr/>
          <p:nvPr/>
        </p:nvSpPr>
        <p:spPr>
          <a:xfrm>
            <a:off x="4572000" y="24193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stealth-med-sm</a:t>
            </a:r>
          </a:p>
        </p:txBody>
      </p:sp>
      <p:sp>
        <p:nvSpPr>
          <p:cNvPr id="19" name="stealth-med-sm"/>
          <p:cNvSpPr/>
          <p:nvPr/>
        </p:nvSpPr>
        <p:spPr>
          <a:xfrm>
            <a:off x="4572000" y="276225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stealth" w="med" len="sm"/>
            <a:tailEnd type="stealth" w="sm" len="med"/>
          </a:ln>
        </p:spPr>
      </p:sp>
      <p:sp>
        <p:nvSpPr>
          <p:cNvPr id="20" name="label-stealth-lg-med"/>
          <p:cNvSpPr/>
          <p:nvPr/>
        </p:nvSpPr>
        <p:spPr>
          <a:xfrm>
            <a:off x="8382000" y="24193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stealth-lg-med</a:t>
            </a:r>
          </a:p>
        </p:txBody>
      </p:sp>
      <p:sp>
        <p:nvSpPr>
          <p:cNvPr id="21" name="stealth-lg-med"/>
          <p:cNvSpPr/>
          <p:nvPr/>
        </p:nvSpPr>
        <p:spPr>
          <a:xfrm>
            <a:off x="8382000" y="276225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stealth" w="lg" len="med"/>
            <a:tailEnd type="stealth" w="med" len="lg"/>
          </a:ln>
        </p:spPr>
      </p:sp>
      <p:sp>
        <p:nvSpPr>
          <p:cNvPr id="22" name="label-diamond-sm-lg"/>
          <p:cNvSpPr/>
          <p:nvPr/>
        </p:nvSpPr>
        <p:spPr>
          <a:xfrm>
            <a:off x="762000" y="3228975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diamond-sm-lg</a:t>
            </a:r>
          </a:p>
        </p:txBody>
      </p:sp>
      <p:sp>
        <p:nvSpPr>
          <p:cNvPr id="23" name="diamond-sm-lg"/>
          <p:cNvSpPr/>
          <p:nvPr/>
        </p:nvSpPr>
        <p:spPr>
          <a:xfrm>
            <a:off x="762000" y="3571875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diamond" w="sm" len="lg"/>
            <a:tailEnd type="diamond" w="lg" len="sm"/>
          </a:ln>
        </p:spPr>
      </p:sp>
      <p:sp>
        <p:nvSpPr>
          <p:cNvPr id="24" name="label-diamond-med-sm"/>
          <p:cNvSpPr/>
          <p:nvPr/>
        </p:nvSpPr>
        <p:spPr>
          <a:xfrm>
            <a:off x="4572000" y="3228975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diamond-med-sm</a:t>
            </a:r>
          </a:p>
        </p:txBody>
      </p:sp>
      <p:sp>
        <p:nvSpPr>
          <p:cNvPr id="25" name="diamond-med-sm"/>
          <p:cNvSpPr/>
          <p:nvPr/>
        </p:nvSpPr>
        <p:spPr>
          <a:xfrm>
            <a:off x="4572000" y="3571875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diamond" w="med" len="sm"/>
            <a:tailEnd type="diamond" w="sm" len="med"/>
          </a:ln>
        </p:spPr>
      </p:sp>
      <p:sp>
        <p:nvSpPr>
          <p:cNvPr id="26" name="label-diamond-lg-med"/>
          <p:cNvSpPr/>
          <p:nvPr/>
        </p:nvSpPr>
        <p:spPr>
          <a:xfrm>
            <a:off x="8382000" y="3228975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diamond-lg-med</a:t>
            </a:r>
          </a:p>
        </p:txBody>
      </p:sp>
      <p:sp>
        <p:nvSpPr>
          <p:cNvPr id="27" name="diamond-lg-med"/>
          <p:cNvSpPr/>
          <p:nvPr/>
        </p:nvSpPr>
        <p:spPr>
          <a:xfrm>
            <a:off x="8382000" y="3571875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diamond" w="lg" len="med"/>
            <a:tailEnd type="diamond" w="med" len="lg"/>
          </a:ln>
        </p:spPr>
      </p:sp>
      <p:sp>
        <p:nvSpPr>
          <p:cNvPr id="28" name="label-oval-sm-lg"/>
          <p:cNvSpPr/>
          <p:nvPr/>
        </p:nvSpPr>
        <p:spPr>
          <a:xfrm>
            <a:off x="762000" y="403860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oval-sm-lg</a:t>
            </a:r>
          </a:p>
        </p:txBody>
      </p:sp>
      <p:sp>
        <p:nvSpPr>
          <p:cNvPr id="29" name="oval-sm-lg"/>
          <p:cNvSpPr/>
          <p:nvPr/>
        </p:nvSpPr>
        <p:spPr>
          <a:xfrm>
            <a:off x="762000" y="438150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oval" w="sm" len="lg"/>
            <a:tailEnd type="oval" w="lg" len="sm"/>
          </a:ln>
        </p:spPr>
      </p:sp>
      <p:sp>
        <p:nvSpPr>
          <p:cNvPr id="30" name="label-oval-med-sm"/>
          <p:cNvSpPr/>
          <p:nvPr/>
        </p:nvSpPr>
        <p:spPr>
          <a:xfrm>
            <a:off x="4572000" y="403860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oval-med-sm</a:t>
            </a:r>
          </a:p>
        </p:txBody>
      </p:sp>
      <p:sp>
        <p:nvSpPr>
          <p:cNvPr id="31" name="oval-med-sm"/>
          <p:cNvSpPr/>
          <p:nvPr/>
        </p:nvSpPr>
        <p:spPr>
          <a:xfrm>
            <a:off x="4572000" y="438150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oval" w="med" len="sm"/>
            <a:tailEnd type="oval" w="sm" len="med"/>
          </a:ln>
        </p:spPr>
      </p:sp>
      <p:sp>
        <p:nvSpPr>
          <p:cNvPr id="32" name="label-oval-lg-med"/>
          <p:cNvSpPr/>
          <p:nvPr/>
        </p:nvSpPr>
        <p:spPr>
          <a:xfrm>
            <a:off x="8382000" y="403860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oval-lg-med</a:t>
            </a:r>
          </a:p>
        </p:txBody>
      </p:sp>
      <p:sp>
        <p:nvSpPr>
          <p:cNvPr id="33" name="oval-lg-med"/>
          <p:cNvSpPr/>
          <p:nvPr/>
        </p:nvSpPr>
        <p:spPr>
          <a:xfrm>
            <a:off x="8382000" y="438150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oval" w="lg" len="med"/>
            <a:tailEnd type="oval" w="med" len="lg"/>
          </a:ln>
        </p:spPr>
      </p:sp>
      <p:sp>
        <p:nvSpPr>
          <p:cNvPr id="34" name="label-Default / explicit medium"/>
          <p:cNvSpPr/>
          <p:nvPr/>
        </p:nvSpPr>
        <p:spPr>
          <a:xfrm>
            <a:off x="762000" y="48958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Default / explicit medium</a:t>
            </a:r>
          </a:p>
        </p:txBody>
      </p:sp>
      <p:sp>
        <p:nvSpPr>
          <p:cNvPr id="35" name="default-medium"/>
          <p:cNvSpPr/>
          <p:nvPr/>
        </p:nvSpPr>
        <p:spPr>
          <a:xfrm>
            <a:off x="762000" y="523875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triangle"/>
            <a:tailEnd type="stealth" w="med" len="med"/>
          </a:ln>
        </p:spPr>
      </p:sp>
      <p:sp>
        <p:nvSpPr>
          <p:cNvPr id="36" name="label-Thin stroke: 1 px"/>
          <p:cNvSpPr/>
          <p:nvPr/>
        </p:nvSpPr>
        <p:spPr>
          <a:xfrm>
            <a:off x="4572000" y="48958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Thin stroke: 1 px</a:t>
            </a:r>
          </a:p>
        </p:txBody>
      </p:sp>
      <p:sp>
        <p:nvSpPr>
          <p:cNvPr id="37" name="thin"/>
          <p:cNvSpPr/>
          <p:nvPr/>
        </p:nvSpPr>
        <p:spPr>
          <a:xfrm>
            <a:off x="4572000" y="5238750"/>
            <a:ext cx="2476500" cy="0"/>
          </a:xfrm>
          <a:prstGeom prst="line">
            <a:avLst/>
          </a:prstGeom>
          <a:noFill/>
          <a:ln w="9525">
            <a:solidFill>
              <a:srgbClr val="315EFB"/>
            </a:solidFill>
            <a:prstDash val="solid"/>
            <a:headEnd type="oval" w="sm" len="lg"/>
            <a:tailEnd type="arrow" w="lg" len="sm"/>
          </a:ln>
        </p:spPr>
      </p:sp>
      <p:sp>
        <p:nvSpPr>
          <p:cNvPr id="38" name="label-Rotated + flipped"/>
          <p:cNvSpPr/>
          <p:nvPr/>
        </p:nvSpPr>
        <p:spPr>
          <a:xfrm>
            <a:off x="8382000" y="48958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Rotated + flipped</a:t>
            </a:r>
          </a:p>
        </p:txBody>
      </p:sp>
      <p:sp>
        <p:nvSpPr>
          <p:cNvPr id="39" name="rotated"/>
          <p:cNvSpPr/>
          <p:nvPr/>
        </p:nvSpPr>
        <p:spPr>
          <a:xfrm rot="1800000" flipH="1">
            <a:off x="8953500" y="5238750"/>
            <a:ext cx="952500" cy="38100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diamond" w="sm" len="lg"/>
            <a:tailEnd type="oval" w="lg" len="sm"/>
          </a:ln>
        </p:spPr>
      </p:sp>
      <p:sp>
        <p:nvSpPr>
          <p:cNvPr id="40" name="label-Plain: absent ends"/>
          <p:cNvSpPr/>
          <p:nvPr/>
        </p:nvSpPr>
        <p:spPr>
          <a:xfrm>
            <a:off x="762000" y="58483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Plain: absent ends</a:t>
            </a:r>
          </a:p>
        </p:txBody>
      </p:sp>
      <p:sp>
        <p:nvSpPr>
          <p:cNvPr id="41" name="plain"/>
          <p:cNvSpPr/>
          <p:nvPr/>
        </p:nvSpPr>
        <p:spPr>
          <a:xfrm>
            <a:off x="762000" y="619125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</a:ln>
        </p:spPr>
      </p:sp>
      <p:sp>
        <p:nvSpPr>
          <p:cNvPr id="42" name="label-Plain: explicit none"/>
          <p:cNvSpPr/>
          <p:nvPr/>
        </p:nvSpPr>
        <p:spPr>
          <a:xfrm>
            <a:off x="4572000" y="58483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Plain: explicit none</a:t>
            </a:r>
          </a:p>
        </p:txBody>
      </p:sp>
      <p:sp>
        <p:nvSpPr>
          <p:cNvPr id="43" name="none"/>
          <p:cNvSpPr/>
          <p:nvPr/>
        </p:nvSpPr>
        <p:spPr>
          <a:xfrm>
            <a:off x="4572000" y="6191250"/>
            <a:ext cx="2476500" cy="0"/>
          </a:xfrm>
          <a:prstGeom prst="line">
            <a:avLst/>
          </a:prstGeom>
          <a:noFill/>
          <a:ln w="38100">
            <a:solidFill>
              <a:srgbClr val="315EFB"/>
            </a:solidFill>
            <a:prstDash val="solid"/>
            <a:headEnd type="none" w="lg" len="lg"/>
            <a:tailEnd type="none" w="sm" len="sm"/>
          </a:ln>
        </p:spPr>
      </p:sp>
      <p:sp>
        <p:nvSpPr>
          <p:cNvPr id="44" name="label-Bent connector geometry"/>
          <p:cNvSpPr/>
          <p:nvPr/>
        </p:nvSpPr>
        <p:spPr>
          <a:xfrm>
            <a:off x="8382000" y="5848350"/>
            <a:ext cx="33337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Bent connector geometry</a:t>
            </a:r>
          </a:p>
        </p:txBody>
      </p:sp>
      <p:sp>
        <p:nvSpPr>
          <p:cNvPr id="45" name="bent"/>
          <p:cNvSpPr/>
          <p:nvPr/>
        </p:nvSpPr>
        <p:spPr>
          <a:xfrm>
            <a:off x="8572500" y="6191250"/>
            <a:ext cx="2476500" cy="381000"/>
          </a:xfrm>
          <a:prstGeom prst="bentConnector3">
            <a:avLst/>
          </a:prstGeom>
          <a:noFill/>
          <a:ln w="38100">
            <a:solidFill>
              <a:srgbClr val="315EFB"/>
            </a:solidFill>
            <a:prstDash val="solid"/>
            <a:headEnd type="arrow" w="med" len="med"/>
            <a:tailEnd type="stealth" w="med" len="med"/>
          </a:ln>
        </p:spPr>
      </p:sp>
      <p:sp>
        <p:nvSpPr>
          <p:cNvPr id="46" name="label-Curved"/>
          <p:cNvSpPr/>
          <p:nvPr/>
        </p:nvSpPr>
        <p:spPr>
          <a:xfrm>
            <a:off x="10572750" y="4895850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sz="1400">
                <a:solidFill>
                  <a:srgbClr val="101828"/>
                </a:solidFill>
                <a:latin typeface="Arial"/>
              </a:rPr>
              <a:t>Curved</a:t>
            </a:r>
          </a:p>
        </p:txBody>
      </p:sp>
      <p:sp>
        <p:nvSpPr>
          <p:cNvPr id="47" name="curved"/>
          <p:cNvSpPr/>
          <p:nvPr/>
        </p:nvSpPr>
        <p:spPr>
          <a:xfrm>
            <a:off x="10668000" y="5238750"/>
            <a:ext cx="952500" cy="381000"/>
          </a:xfrm>
          <a:prstGeom prst="curvedConnector2">
            <a:avLst/>
          </a:prstGeom>
          <a:noFill/>
          <a:ln w="38100">
            <a:solidFill>
              <a:srgbClr val="315EFB"/>
            </a:solidFill>
            <a:prstDash val="solid"/>
            <a:headEnd type="arrow" w="med" len="lg"/>
            <a:tailEnd type="stealth" w="lg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