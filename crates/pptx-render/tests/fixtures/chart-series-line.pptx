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
</file>

<file path=ppt/charts/chart1.xml><?xml version="1.0" encoding="utf-8"?>
<c:chartSpace xmlns:c="http://schemas.openxmlformats.org/drawingml/2006/chart" xmlns:a="http://schemas.openxmlformats.org/drawingml/2006/main">
  <c:chart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 idx="0">
                  <c:v>Wide</c:v>
                </c:pt>
              </c:strCache>
            </c:strRef>
          </c:tx>
          <c:spPr>
            <a:ln w="41275" cap="rnd">
              <a:solidFill>
                <a:srgbClr val="D64550"/>
              </a:solidFill>
            </a:ln>
          </c:spPr>
          <c:cat>
            <c:strRef>
              <c:f>Sheet1!$A$2:$A$5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Markers</c:v>
                </c:pt>
              </c:strCache>
            </c:strRef>
          </c:tx>
          <c:spPr>
            <a:solidFill>
              <a:srgbClr val="2F8F5B"/>
            </a:solidFill>
            <a:ln>
              <a:noFill/>
            </a:ln>
          </c:spPr>
          <c:cat>
            <c:strRef>
              <c:f>Sheet1!$A$2:$A$5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  <c:pt idx="3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 idx="0">
                  <c:v>Unsized</c:v>
                </c:pt>
              </c:strCache>
            </c:strRef>
          </c:tx>
          <c:spPr>
            <a:ln>
              <a:solidFill>
                <a:srgbClr val="1B4F9C"/>
              </a:solidFill>
            </a:ln>
          </c:spPr>
          <c:cat>
            <c:strRef>
              <c:f>Sheet1!$A$2:$A$5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pt idx="0">
                  <c:v>4</c:v>
                </c:pt>
                <c:pt idx="1">
                  <c:v>9</c:v>
                </c:pt>
                <c:pt idx="2">
                  <c:v>17</c:v>
                </c:pt>
                <c:pt idx="3">
                  <c:v>6</c:v>
                </c:pt>
              </c:numCache>
            </c:numRef>
          </c:val>
        </c:ser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majorTickMark val="none"/>
        <c:minorTickMark val="none"/>
        <c:tickLblPos val="nextTo"/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majorTickMark val="none"/>
        <c:minorTickMark val="none"/>
        <c:tickLblPos val="nextTo"/>
        <c:crossAx val="111111111"/>
      </c:valAx>
    </c:plotArea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 idx="0">
                  <c:v>Trend</c:v>
                </c:pt>
              </c:strCache>
            </c:strRef>
          </c:tx>
          <c:spPr>
            <a:ln w="28575">
              <a:solidFill>
                <a:srgbClr val="7A3EA1"/>
              </a:solidFill>
            </a:ln>
          </c:spPr>
          <c:xVal>
            <c:numRef>
              <c:f>Sheet1!$A$2:$A$5</c:f>
              <c:numCache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pt idx="0">
                  <c:v>3</c:v>
                </c:pt>
                <c:pt idx="1">
                  <c:v>8</c:v>
                </c:pt>
                <c:pt idx="2">
                  <c:v>5</c:v>
                </c:pt>
                <c:pt idx="3">
                  <c:v>11</c:v>
                </c:pt>
              </c:numCache>
            </c:numRef>
          </c:yVal>
        </c:ser>
        <c:ser>
          <c:idx val="1"/>
          <c:order val="1"/>
          <c:tx>
            <c:strRef>
              <c:f>Sheet1!$C$1</c:f>
              <c:strCache>
                <c:pt idx="0">
                  <c:v>Cloud</c:v>
                </c:pt>
              </c:strCache>
            </c:strRef>
          </c:tx>
          <c:spPr>
            <a:solidFill>
              <a:srgbClr val="C77B12"/>
            </a:solidFill>
            <a:ln>
              <a:noFill/>
            </a:ln>
          </c:spPr>
          <c:xVal>
            <c:numRef>
              <c:f>Sheet1!$A$2:$A$5</c:f>
              <c:numCache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Sheet1!$C$2:$C$5</c:f>
              <c:numCache>
                <c:pt idx="0">
                  <c:v>9</c:v>
                </c:pt>
                <c:pt idx="1">
                  <c:v>4</c:v>
                </c:pt>
                <c:pt idx="2">
                  <c:v>12</c:v>
                </c:pt>
                <c:pt idx="3">
                  <c:v>6</c:v>
                </c:pt>
              </c:numCache>
            </c:numRef>
          </c:yVal>
        </c:ser>
        <c:axId val="333333333"/>
        <c:axId val="444444444"/>
      </c:scatterChart>
      <c:valAx>
        <c:axId val="333333333"/>
        <c:scaling>
          <c:orientation val="minMax"/>
          <c:min val="0"/>
          <c:max val="5"/>
        </c:scaling>
        <c:delete val="0"/>
        <c:axPos val="b"/>
        <c:majorTickMark val="none"/>
        <c:minorTickMark val="none"/>
        <c:tickLblPos val="nextTo"/>
        <c:crossAx val="444444444"/>
      </c:valAx>
      <c:valAx>
        <c:axId val="444444444"/>
        <c:scaling>
          <c:orientation val="minMax"/>
          <c:min val="0"/>
          <c:max val="15"/>
        </c:scaling>
        <c:delete val="0"/>
        <c:axPos val="l"/>
        <c:majorTickMark val="none"/>
        <c:minorTickMark val="none"/>
        <c:tickLblPos val="nextTo"/>
        <c:crossAx val="333333333"/>
      </c:valAx>
    </c:plotArea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>
  <c:chart>
    <c:plotArea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 idx="0">
                  <c:v>Thin</c:v>
                </c:pt>
              </c:strCache>
            </c:strRef>
          </c:tx>
          <c:spPr>
            <a:ln w="12700">
              <a:solidFill>
                <a:srgbClr val="0E7C86"/>
              </a:solidFill>
            </a:ln>
          </c:spPr>
          <c:cat>
            <c:strRef>
              <c:f>Sheet1!$A$2:$A$5</c:f>
              <c:strCache>
                <c:pt idx="0">
                  <c:v>Speed</c:v>
                </c:pt>
                <c:pt idx="1">
                  <c:v>Cost</c:v>
                </c:pt>
                <c:pt idx="2">
                  <c:v>Reach</c:v>
                </c:pt>
                <c:pt idx="3">
                  <c:v>Trust</c:v>
                </c:pt>
              </c:strCache>
            </c:strRef>
          </c:cat>
          <c:val>
            <c:numRef>
              <c:f>Sheet1!$B$2:$B$5</c:f>
              <c:numCache>
                <c:pt idx="0">
                  <c:v>6</c:v>
                </c:pt>
                <c:pt idx="1">
                  <c:v>9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Unsized</c:v>
                </c:pt>
              </c:strCache>
            </c:strRef>
          </c:tx>
          <c:spPr>
            <a:ln>
              <a:solidFill>
                <a:srgbClr val="B02E6F"/>
              </a:solidFill>
            </a:ln>
          </c:spPr>
          <c:cat>
            <c:strRef>
              <c:f>Sheet1!$A$2:$A$5</c:f>
              <c:strCache>
                <c:pt idx="0">
                  <c:v>Speed</c:v>
                </c:pt>
                <c:pt idx="1">
                  <c:v>Cost</c:v>
                </c:pt>
                <c:pt idx="2">
                  <c:v>Reach</c:v>
                </c:pt>
                <c:pt idx="3">
                  <c:v>Trust</c:v>
                </c:pt>
              </c:strCache>
            </c:strRef>
          </c:cat>
          <c:val>
            <c:numRef>
              <c:f>Sheet1!$C$2:$C$5</c:f>
              <c:numCache>
                <c:pt idx="0">
                  <c:v>3</c:v>
                </c:pt>
                <c:pt idx="1">
                  <c:v>5</c:v>
                </c:pt>
                <c:pt idx="2">
                  <c:v>10</c:v>
                </c:pt>
                <c:pt idx="3">
                  <c:v>2</c:v>
                </c:pt>
              </c:numCache>
            </c:numRef>
          </c:val>
        </c:ser>
        <c:axId val="555555555"/>
        <c:axId val="666666666"/>
      </c:radarChart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.xml"/>
  <Relationship Id="rId3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2.xml"/>
  <Relationship Id="rId3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3.xml"/>
  <Relationship Id="rId3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ne widths">
    <p:spTree>
      <p:nvGrpSpPr>
        <p:cNvPr id="1" name=""/>
        <p:cNvGrpSpPr/>
        <p:nvPr/>
      </p:nvGrpSpPr>
      <p:grpSpPr/>
      <p:graphicFrame>
        <p:nvGraphicFramePr>
          <p:cNvPr id="2" name="Series line chart 1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atter widths">
    <p:spTree>
      <p:nvGrpSpPr>
        <p:cNvPr id="1" name=""/>
        <p:cNvGrpSpPr/>
        <p:nvPr/>
      </p:nvGrpSpPr>
      <p:grpSpPr/>
      <p:graphicFrame>
        <p:nvGraphicFramePr>
          <p:cNvPr id="2" name="Series line chart 2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adar widths">
    <p:spTree>
      <p:nvGrpSpPr>
        <p:cNvPr id="1" name=""/>
        <p:cNvGrpSpPr/>
        <p:nvPr/>
      </p:nvGrpSpPr>
      <p:grpSpPr/>
      <p:graphicFrame>
        <p:nvGraphicFramePr>
          <p:cNvPr id="2" name="Series line chart 3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theme/theme1.xml><?xml version="1.0" encoding="utf-8"?>
<a:theme xmlns:a="http://schemas.openxmlformats.org/drawingml/2006/main" name="Chart Deck">
  <a:themeElements>
    <a:clrScheme name="Chart Deck">
      <a:dk1>
        <a:sysClr val="windowText" lastClr="000000"/>
      </a:dk1>
      <a:lt1>
        <a:sysClr val="window" lastClr="FFFFFF"/>
      </a:lt1>
      <a:dk2>
        <a:srgbClr val="1F2933"/>
      </a:dk2>
      <a:lt2>
        <a:srgbClr val="F5F7FA"/>
      </a:lt2>
      <a:accent1>
        <a:srgbClr val="6254E7"/>
      </a:accent1>
      <a:accent2>
        <a:srgbClr val="1FA97A"/>
      </a:accent2>
      <a:accent3>
        <a:srgbClr val="E7A954"/>
      </a:accent3>
      <a:accent4>
        <a:srgbClr val="E75462"/>
      </a:accent4>
      <a:accent5>
        <a:srgbClr val="54B8E7"/>
      </a:accent5>
      <a:accent6>
        <a:srgbClr val="9754E7"/>
      </a:accent6>
      <a:hlink>
        <a:srgbClr val="0563C1"/>
      </a:hlink>
      <a:folHlink>
        <a:srgbClr val="954F72"/>
      </a:folHlink>
    </a:clrScheme>
    <a:fontScheme name="Chart 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rt Deck"/>
  </a:themeElements>
</a:theme>
</file>