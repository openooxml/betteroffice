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rPr lang="en-US" spc="600"/>
              <a:t>Revenue</a:t>
            </a:r>
          </a:p>
        </c:rich>
      </c:tx>
      <c:txPr>
        <a:bodyPr/>
        <a:lstStyle/>
        <a:p>
          <a:pPr>
            <a:defRPr i="1" spc="300"/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txPr>
          <a:bodyPr/>
          <a:lstStyle/>
          <a:p>
            <a:pPr>
              <a:defRPr b="1">
                <a:latin typeface="Verdana"/>
              </a:defRPr>
            </a:pPr>
          </a:p>
        </c:tx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crossAx val="111111111"/>
      </c:valAx>
    </c:plotArea>
    <c:legend>
      <c:legendPos val="r"/>
      <c:overlay val="0"/>
      <c:txPr>
        <a:bodyPr/>
        <a:lstStyle/>
        <a:p>
          <a:pPr>
            <a:defRPr sz="1400"/>
          </a:pPr>
        </a:p>
      </c:txPr>
    </c:legend>
    <c:plotVisOnly val="1"/>
  </c:chart>
  <c:txPr>
    <a:bodyPr/>
    <a:lstStyle/>
    <a:p>
      <a:pPr>
        <a:defRPr>
          <a:latin typeface="+mj-lt"/>
        </a:defRPr>
      </a:pPr>
    </a:p>
  </c:txPr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spPr>
          <a:noFill/>
          <a:ln w="19050">
            <a:solidFill>
              <a:srgbClr val="BFBFBF"/>
            </a:solidFill>
          </a:ln>
        </c:sp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spPr>
          <a:noFill/>
          <a:ln w="6350">
            <a:solidFill>
              <a:schemeClr val="accent1"/>
            </a:solidFill>
          </a:ln>
        </c:spPr>
        <c:crossAx val="111111111"/>
      </c:valAx>
    </c:plotArea>
    <c:legend>
      <c:legendPos val="r"/>
      <c:overlay val="0"/>
    </c:legend>
    <c:plotVisOnly val="1"/>
  </c:chart>
  <c:spPr>
    <a:solidFill>
      <a:schemeClr val="lt2"/>
    </a:solidFill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tern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id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