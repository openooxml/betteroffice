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0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  <p:sp>
        <p:nvSpPr>
          <p:cNvPr id="51" name="Layout field probe"/>
          <p:cNvSpPr txBox="1"/>
          <p:nvPr/>
        </p:nvSpPr>
        <p:spPr>
          <a:xfrm>
            <a:off x="6000000" y="5500000"/>
            <a:ext cx="3000000" cy="5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fld id="{33333333-3333-3333-3333-333333333333}" type="slidenum">
              <a:rPr lang="en-US" sz="1700">
                <a:solidFill>
                  <a:srgbClr val="1122CC"/>
                </a:solidFill>
                <a:latin typeface="Arial"/>
              </a:rPr>
              <a:t>LAYOUT-CACHE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rule"/>
          <p:cNvSpPr/>
          <p:nvPr/>
        </p:nvSpPr>
        <p:spPr>
          <a:xfrm>
            <a:off x="762000" y="6248400"/>
            <a:ext cx="10668000" cy="1524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3" name="Brand"/>
          <p:cNvSpPr txBox="1"/>
          <p:nvPr/>
        </p:nvSpPr>
        <p:spPr>
          <a:xfrm>
            <a:off x="76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101828"/>
                </a:solidFill>
                <a:latin typeface="Arial"/>
              </a:rPr>
              <a:t>betteroffice</a:t>
            </a:r>
            <a:endParaRPr lang="en-US" sz="1800"/>
          </a:p>
        </p:txBody>
      </p:sp>
      <p:sp>
        <p:nvSpPr>
          <p:cNvPr id="4" name="Open OOXML label"/>
          <p:cNvSpPr txBox="1"/>
          <p:nvPr/>
        </p:nvSpPr>
        <p:spPr>
          <a:xfrm>
            <a:off x="838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r" lvl="0"/>
            <a:r>
              <a:rPr lang="en-US" sz="800" b="1">
                <a:solidFill>
                  <a:srgbClr val="667085"/>
                </a:solidFill>
                <a:latin typeface="Arial"/>
              </a:rPr>
              <a:t>OPEN OOXML  /  LOCAL-FIRST</a:t>
            </a:r>
            <a:endParaRPr lang="en-US" sz="1800"/>
          </a:p>
        </p:txBody>
      </p:sp>
      <p:sp>
        <p:nvSpPr>
          <p:cNvPr id="50" name="Master field probe"/>
          <p:cNvSpPr txBox="1"/>
          <p:nvPr/>
        </p:nvSpPr>
        <p:spPr>
          <a:xfrm>
            <a:off x="500000" y="5500000"/>
            <a:ext cx="5000000" cy="5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fld id="{11111111-1111-1111-1111-111111111111}" type="slidenum">
              <a:rPr lang="en-US" sz="2300" b="1" i="1" u="sng">
                <a:solidFill>
                  <a:srgbClr val="FF0066"/>
                </a:solidFill>
                <a:latin typeface="Arial"/>
              </a:rPr>
              <a:t>MASTER-CACHE</a:t>
            </a:fld>
            <a:r>
              <a:rPr lang="en-US" sz="2300">
                <a:latin typeface="Arial"/>
              </a:rPr>
              <a:t>|</a:t>
            </a:r>
            <a:fld id="{22222222-2222-2222-2222-222222222222}" type="datetime">
              <a:rPr lang="en-US" sz="1300">
                <a:solidFill>
                  <a:srgbClr val="00AA55"/>
                </a:solidFill>
                <a:latin typeface="Arial"/>
              </a:rPr>
              <a:t>CACHED-DATE</a:t>
            </a:fld>
          </a:p>
        </p:txBody>
      </p:sp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tteroffice-mark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balt rail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Deck label"/>
          <p:cNvSpPr txBox="1"/>
          <p:nvPr/>
        </p:nvSpPr>
        <p:spPr>
          <a:xfrm>
            <a:off x="762000" y="533400"/>
            <a:ext cx="2971800" cy="42672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FFFFFF"/>
                </a:solidFill>
                <a:latin typeface="Arial"/>
              </a:rPr>
              <a:t>BETTEROFFICE  /  OPEN OOXML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219200"/>
            <a:ext cx="6096000" cy="1981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4400" b="1">
                <a:solidFill>
                  <a:srgbClr val="101828"/>
                </a:solidFill>
                <a:latin typeface="Arial"/>
              </a:rPr>
              <a:t>Office files,</a:t>
            </a:r>
            <a:endParaRPr lang="en-US" sz="1800"/>
          </a:p>
          <a:p>
            <a:pPr algn="l" lvl="0"/>
            <a:r>
              <a:rPr lang="en-US" sz="4400" b="1">
                <a:solidFill>
                  <a:srgbClr val="315EFB"/>
                </a:solidFill>
                <a:latin typeface="Arial"/>
              </a:rPr>
              <a:t>without the office.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3276600"/>
            <a:ext cx="5715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700">
                <a:solidFill>
                  <a:srgbClr val="475467"/>
                </a:solidFill>
                <a:latin typeface="Arial"/>
              </a:rPr>
              <a:t>A Rust-native editing engine for DOCX, XLSX, and PPTX. Local-first, collaborative, and entirely yours.</a:t>
            </a:r>
            <a:endParaRPr lang="en-US" sz="1800"/>
          </a:p>
        </p:txBody>
      </p:sp>
      <p:sp>
        <p:nvSpPr>
          <p:cNvPr id="6" name="WASM label"/>
          <p:cNvSpPr txBox="1"/>
          <p:nvPr/>
        </p:nvSpPr>
        <p:spPr>
          <a:xfrm>
            <a:off x="762000" y="4572000"/>
            <a:ext cx="1188720" cy="48768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101828"/>
                </a:solidFill>
                <a:latin typeface="Arial"/>
              </a:rPr>
              <a:t>WASM</a:t>
            </a:r>
            <a:endParaRPr lang="en-US" sz="1800"/>
          </a:p>
        </p:txBody>
      </p:sp>
      <p:sp>
        <p:nvSpPr>
          <p:cNvPr id="7" name="CRDT label"/>
          <p:cNvSpPr txBox="1"/>
          <p:nvPr/>
        </p:nvSpPr>
        <p:spPr>
          <a:xfrm>
            <a:off x="2096760" y="4572000"/>
            <a:ext cx="1188720" cy="48768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101828"/>
                </a:solidFill>
                <a:latin typeface="Arial"/>
              </a:rPr>
              <a:t>CRDT</a:t>
            </a:r>
            <a:endParaRPr lang="en-US" sz="1800"/>
          </a:p>
        </p:txBody>
      </p:sp>
      <p:sp>
        <p:nvSpPr>
          <p:cNvPr id="8" name="No uploads label"/>
          <p:cNvSpPr txBox="1"/>
          <p:nvPr/>
        </p:nvSpPr>
        <p:spPr>
          <a:xfrm>
            <a:off x="3431520" y="4572000"/>
            <a:ext cx="1752600" cy="48768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FFFFFF"/>
                </a:solidFill>
                <a:latin typeface="Arial"/>
              </a:rPr>
              <a:t>NO UPLOADS</a:t>
            </a:r>
            <a:endParaRPr lang="en-US" sz="1800"/>
          </a:p>
        </p:txBody>
      </p:sp>
      <p:sp>
        <p:nvSpPr>
          <p:cNvPr id="9" name="Cover statement"/>
          <p:cNvSpPr txBox="1"/>
          <p:nvPr/>
        </p:nvSpPr>
        <p:spPr>
          <a:xfrm>
            <a:off x="762000" y="53340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100" b="1">
                <a:solidFill>
                  <a:srgbClr val="667085"/>
                </a:solidFill>
                <a:latin typeface="Arial"/>
              </a:rPr>
              <a:t>Parse. Edit. Collaborate. Render. All in one resident model.</a:t>
            </a:r>
            <a:endParaRPr lang="en-US" sz="1800"/>
          </a:p>
        </p:txBody>
      </p:sp>
      <p:grpSp>
        <p:nvGrpSpPr>
          <p:cNvPr id="10" name="BetterOffice editor preview"/>
          <p:cNvGrpSpPr/>
          <p:nvPr/>
        </p:nvGrpSpPr>
        <p:grpSpPr>
          <a:xfrm>
            <a:off x="7112000" y="610000"/>
            <a:ext cx="4320000" cy="5480000"/>
            <a:chOff x="0" y="0"/>
            <a:chExt cx="4320000" cy="5480000"/>
          </a:xfrm>
        </p:grpSpPr>
        <p:sp>
          <p:nvSpPr>
            <p:cNvPr id="11" name="Preview field"/>
            <p:cNvSpPr/>
            <p:nvPr/>
          </p:nvSpPr>
          <p:spPr>
            <a:xfrm>
              <a:off x="0" y="0"/>
              <a:ext cx="4320000" cy="5480000"/>
            </a:xfrm>
            <a:prstGeom prst="roundRect">
              <a:avLst/>
            </a:prstGeom>
            <a:solidFill>
              <a:srgbClr val="E6EBFF"/>
            </a:solidFill>
            <a:ln>
              <a:noFill/>
            </a:ln>
          </p:spPr>
        </p:sp>
        <p:sp>
          <p:nvSpPr>
            <p:cNvPr id="12" name="Preview accent"/>
            <p:cNvSpPr/>
            <p:nvPr/>
          </p:nvSpPr>
          <p:spPr>
            <a:xfrm>
              <a:off x="3100000" y="0"/>
              <a:ext cx="1220000" cy="5480000"/>
            </a:xfrm>
            <a:prstGeom prst="roundRect">
              <a:avLst/>
            </a:prstGeom>
            <a:solidFill>
              <a:srgbClr val="315EFB"/>
            </a:solidFill>
            <a:ln>
              <a:noFill/>
            </a:ln>
          </p:spPr>
        </p:sp>
        <p:sp>
          <p:nvSpPr>
            <p:cNvPr id="13" name="Editor window"/>
            <p:cNvSpPr/>
            <p:nvPr/>
          </p:nvSpPr>
          <p:spPr>
            <a:xfrm>
              <a:off x="360000" y="520000"/>
              <a:ext cx="3380000" cy="386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C7D1FF"/>
              </a:solidFill>
            </a:ln>
          </p:spPr>
        </p:sp>
        <p:sp>
          <p:nvSpPr>
            <p:cNvPr id="14" name="Window dot coral"/>
            <p:cNvSpPr/>
            <p:nvPr/>
          </p:nvSpPr>
          <p:spPr>
            <a:xfrm>
              <a:off x="620000" y="760000"/>
              <a:ext cx="105000" cy="105000"/>
            </a:xfrm>
            <a:prstGeom prst="ellipse">
              <a:avLst/>
            </a:prstGeom>
            <a:solidFill>
              <a:srgbClr val="FF8066"/>
            </a:solidFill>
            <a:ln>
              <a:noFill/>
            </a:ln>
          </p:spPr>
        </p:sp>
        <p:sp>
          <p:nvSpPr>
            <p:cNvPr id="15" name="Window dot gold"/>
            <p:cNvSpPr/>
            <p:nvPr/>
          </p:nvSpPr>
          <p:spPr>
            <a:xfrm>
              <a:off x="780000" y="760000"/>
              <a:ext cx="105000" cy="105000"/>
            </a:xfrm>
            <a:prstGeom prst="ellipse">
              <a:avLst/>
            </a:prstGeom>
            <a:solidFill>
              <a:srgbClr val="F9C74F"/>
            </a:solidFill>
            <a:ln>
              <a:noFill/>
            </a:ln>
          </p:spPr>
        </p:sp>
        <p:sp>
          <p:nvSpPr>
            <p:cNvPr id="16" name="Window dot mint"/>
            <p:cNvSpPr/>
            <p:nvPr/>
          </p:nvSpPr>
          <p:spPr>
            <a:xfrm>
              <a:off x="940000" y="760000"/>
              <a:ext cx="105000" cy="10500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17" name="Window address"/>
            <p:cNvSpPr txBox="1"/>
            <p:nvPr/>
          </p:nvSpPr>
          <p:spPr>
            <a:xfrm>
              <a:off x="1160000" y="690000"/>
              <a:ext cx="2080000" cy="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l" lvl="0"/>
              <a:r>
                <a:rPr lang="en-US" sz="820" b="1">
                  <a:solidFill>
                    <a:srgbClr val="667085"/>
                  </a:solidFill>
                  <a:latin typeface="Arial"/>
                </a:rPr>
                <a:t>betteroffice.dev / deck.pptx</a:t>
              </a:r>
              <a:endParaRPr lang="en-US" sz="1800"/>
            </a:p>
          </p:txBody>
        </p:sp>
        <p:sp>
          <p:nvSpPr>
            <p:cNvPr id="18" name="Preview title"/>
            <p:cNvSpPr txBox="1"/>
            <p:nvPr/>
          </p:nvSpPr>
          <p:spPr>
            <a:xfrm>
              <a:off x="650000" y="1320000"/>
              <a:ext cx="2550000" cy="98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2400" tIns="91440" rIns="152400" bIns="91440" anchor="t"/>
            <a:lstStyle/>
            <a:p>
              <a:pPr algn="l" lvl="0"/>
              <a:r>
                <a:rPr lang="en-US" sz="2100" b="1">
                  <a:solidFill>
                    <a:srgbClr val="101828"/>
                  </a:solidFill>
                  <a:latin typeface="Arial"/>
                </a:rPr>
                <a:t>Ship ideas,</a:t>
              </a:r>
              <a:endParaRPr lang="en-US" sz="1800"/>
            </a:p>
            <a:p>
              <a:pPr algn="l" lvl="0"/>
              <a:r>
                <a:rPr lang="en-US" sz="2100" b="1">
                  <a:solidFill>
                    <a:srgbClr val="315EFB"/>
                  </a:solidFill>
                  <a:latin typeface="Arial"/>
                </a:rPr>
                <a:t>not attachments.</a:t>
              </a:r>
              <a:endParaRPr lang="en-US" sz="1800"/>
            </a:p>
          </p:txBody>
        </p:sp>
        <p:sp>
          <p:nvSpPr>
            <p:cNvPr id="19" name="Preview rule one"/>
            <p:cNvSpPr/>
            <p:nvPr/>
          </p:nvSpPr>
          <p:spPr>
            <a:xfrm>
              <a:off x="650000" y="2520000"/>
              <a:ext cx="2220000" cy="105000"/>
            </a:xfrm>
            <a:prstGeom prst="roundRect">
              <a:avLst/>
            </a:prstGeom>
            <a:solidFill>
              <a:srgbClr val="D0D5DD"/>
            </a:solidFill>
            <a:ln>
              <a:noFill/>
            </a:ln>
          </p:spPr>
        </p:sp>
        <p:sp>
          <p:nvSpPr>
            <p:cNvPr id="20" name="Preview rule two"/>
            <p:cNvSpPr/>
            <p:nvPr/>
          </p:nvSpPr>
          <p:spPr>
            <a:xfrm>
              <a:off x="650000" y="2770000"/>
              <a:ext cx="1670000" cy="105000"/>
            </a:xfrm>
            <a:prstGeom prst="roundRect">
              <a:avLst/>
            </a:prstGeom>
            <a:solidFill>
              <a:srgbClr val="D0D5DD"/>
            </a:solidFill>
            <a:ln>
              <a:noFill/>
            </a:ln>
          </p:spPr>
        </p:sp>
        <p:sp>
          <p:nvSpPr>
            <p:cNvPr id="21" name="Local badge"/>
            <p:cNvSpPr txBox="1"/>
            <p:nvPr/>
          </p:nvSpPr>
          <p:spPr>
            <a:xfrm>
              <a:off x="650000" y="3230000"/>
              <a:ext cx="1550000" cy="520000"/>
            </a:xfrm>
            <a:prstGeom prst="roundRect">
              <a:avLst/>
            </a:prstGeom>
            <a:solidFill>
              <a:srgbClr val="C8F56A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900" b="1">
                  <a:solidFill>
                    <a:srgbClr val="101828"/>
                  </a:solidFill>
                  <a:latin typeface="Arial"/>
                </a:rPr>
                <a:t>LOCAL-FIRST</a:t>
              </a:r>
              <a:endParaRPr lang="en-US" sz="1800"/>
            </a:p>
          </p:txBody>
        </p:sp>
        <p:sp>
          <p:nvSpPr>
            <p:cNvPr id="22" name="DOCX tab"/>
            <p:cNvSpPr txBox="1"/>
            <p:nvPr/>
          </p:nvSpPr>
          <p:spPr>
            <a:xfrm>
              <a:off x="180000" y="4610000"/>
              <a:ext cx="1160000" cy="560000"/>
            </a:xfrm>
            <a:prstGeom prst="roundRect">
              <a:avLst/>
            </a:prstGeom>
            <a:solidFill>
              <a:srgbClr val="101828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FFFFFF"/>
                  </a:solidFill>
                  <a:latin typeface="Arial"/>
                </a:rPr>
                <a:t>DOCX</a:t>
              </a:r>
              <a:endParaRPr lang="en-US" sz="1800"/>
            </a:p>
          </p:txBody>
        </p:sp>
        <p:sp>
          <p:nvSpPr>
            <p:cNvPr id="23" name="XLSX tab"/>
            <p:cNvSpPr txBox="1"/>
            <p:nvPr/>
          </p:nvSpPr>
          <p:spPr>
            <a:xfrm>
              <a:off x="1570000" y="4610000"/>
              <a:ext cx="1160000" cy="560000"/>
            </a:xfrm>
            <a:prstGeom prst="roundRect">
              <a:avLst/>
            </a:prstGeom>
            <a:solidFill>
              <a:srgbClr val="C8F56A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101828"/>
                  </a:solidFill>
                  <a:latin typeface="Arial"/>
                </a:rPr>
                <a:t>XLSX</a:t>
              </a:r>
              <a:endParaRPr lang="en-US" sz="1800"/>
            </a:p>
          </p:txBody>
        </p:sp>
        <p:sp>
          <p:nvSpPr>
            <p:cNvPr id="24" name="PPTX tab"/>
            <p:cNvSpPr txBox="1"/>
            <p:nvPr/>
          </p:nvSpPr>
          <p:spPr>
            <a:xfrm>
              <a:off x="2960000" y="4610000"/>
              <a:ext cx="1160000" cy="560000"/>
            </a:xfrm>
            <a:prstGeom prst="roundRect">
              <a:avLst/>
            </a:prstGeom>
            <a:solidFill>
              <a:srgbClr val="FF8066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101828"/>
                  </a:solidFill>
                  <a:latin typeface="Arial"/>
                </a:rPr>
                <a:t>PPTX</a:t>
              </a:r>
              <a:endParaRPr lang="en-US" sz="1800"/>
            </a:p>
          </p:txBody>
        </p:sp>
      </p:grpSp>
      <p:pic>
        <p:nvPicPr>
          <p:cNvPr id="90" name="Media fixture" descr="Transparent parser fixture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192000" y="6858000"/>
            <a:ext cx="1" cy="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ONE NATIVE STACK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990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200" b="1">
                <a:solidFill>
                  <a:srgbClr val="101828"/>
                </a:solidFill>
                <a:latin typeface="Arial"/>
              </a:rPr>
              <a:t>Three formats. One resident engine.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1676400"/>
            <a:ext cx="914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400">
                <a:solidFill>
                  <a:srgbClr val="667085"/>
                </a:solidFill>
                <a:latin typeface="Arial"/>
              </a:rPr>
              <a:t>No conversions. No round-trips. Every edit stays inside the file model.</a:t>
            </a:r>
            <a:endParaRPr lang="en-US" sz="1800"/>
          </a:p>
        </p:txBody>
      </p:sp>
      <p:sp>
        <p:nvSpPr>
          <p:cNvPr id="6" name="Format connector"/>
          <p:cNvSpPr/>
          <p:nvPr/>
        </p:nvSpPr>
        <p:spPr>
          <a:xfrm>
            <a:off x="2133600" y="3261360"/>
            <a:ext cx="7894320" cy="2286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7" name="DOCX card"/>
          <p:cNvSpPr txBox="1"/>
          <p:nvPr/>
        </p:nvSpPr>
        <p:spPr>
          <a:xfrm>
            <a:off x="762000" y="2286000"/>
            <a:ext cx="3200400" cy="9906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1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315EFB"/>
                </a:solidFill>
                <a:latin typeface="Arial"/>
              </a:rPr>
              <a:t>DOCX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flow layout</a:t>
            </a:r>
            <a:endParaRPr lang="en-US" sz="1800"/>
          </a:p>
        </p:txBody>
      </p:sp>
      <p:sp>
        <p:nvSpPr>
          <p:cNvPr id="8" name="XLSX card"/>
          <p:cNvSpPr txBox="1"/>
          <p:nvPr/>
        </p:nvSpPr>
        <p:spPr>
          <a:xfrm>
            <a:off x="4495800" y="2286000"/>
            <a:ext cx="3200400" cy="990600"/>
          </a:xfrm>
          <a:prstGeom prst="roundRect">
            <a:avLst/>
          </a:prstGeom>
          <a:solidFill>
            <a:srgbClr val="E7F8E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16825D"/>
                </a:solidFill>
                <a:latin typeface="Arial"/>
              </a:rPr>
              <a:t>XLSX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calculation grid</a:t>
            </a:r>
            <a:endParaRPr lang="en-US" sz="1800"/>
          </a:p>
        </p:txBody>
      </p:sp>
      <p:sp>
        <p:nvSpPr>
          <p:cNvPr id="9" name="PPTX card"/>
          <p:cNvSpPr txBox="1"/>
          <p:nvPr/>
        </p:nvSpPr>
        <p:spPr>
          <a:xfrm>
            <a:off x="8229600" y="2286000"/>
            <a:ext cx="3200400" cy="990600"/>
          </a:xfrm>
          <a:prstGeom prst="roundRect">
            <a:avLst/>
          </a:prstGeom>
          <a:solidFill>
            <a:srgbClr val="FFF0EA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D94F35"/>
                </a:solidFill>
                <a:latin typeface="Arial"/>
              </a:rPr>
              <a:t>PPTX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slide canvas</a:t>
            </a:r>
            <a:endParaRPr lang="en-US" sz="1800"/>
          </a:p>
        </p:txBody>
      </p:sp>
      <p:sp>
        <p:nvSpPr>
          <p:cNvPr id="10" name="Engine panel"/>
          <p:cNvSpPr/>
          <p:nvPr/>
        </p:nvSpPr>
        <p:spPr>
          <a:xfrm>
            <a:off x="762000" y="3657600"/>
            <a:ext cx="10668000" cy="243840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1" name="Engine label"/>
          <p:cNvSpPr txBox="1"/>
          <p:nvPr/>
        </p:nvSpPr>
        <p:spPr>
          <a:xfrm>
            <a:off x="1066800" y="38862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C8F56A"/>
                </a:solidFill>
                <a:latin typeface="Arial"/>
              </a:rPr>
              <a:t>RUST CORE  /  ONE MODEL</a:t>
            </a:r>
            <a:endParaRPr lang="en-US" sz="1800"/>
          </a:p>
        </p:txBody>
      </p:sp>
      <p:sp>
        <p:nvSpPr>
          <p:cNvPr id="12" name="Parse contract"/>
          <p:cNvSpPr txBox="1"/>
          <p:nvPr/>
        </p:nvSpPr>
        <p:spPr>
          <a:xfrm>
            <a:off x="10668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C8F56A"/>
                </a:solidFill>
                <a:latin typeface="Arial"/>
              </a:rPr>
              <a:t>PARSE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guarded OPC parts</a:t>
            </a:r>
            <a:endParaRPr lang="en-US" sz="1800"/>
          </a:p>
        </p:txBody>
      </p:sp>
      <p:sp>
        <p:nvSpPr>
          <p:cNvPr id="13" name="Model contract"/>
          <p:cNvSpPr txBox="1"/>
          <p:nvPr/>
        </p:nvSpPr>
        <p:spPr>
          <a:xfrm>
            <a:off x="36576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8AB4FF"/>
                </a:solidFill>
                <a:latin typeface="Arial"/>
              </a:rPr>
              <a:t>MODEL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local CRDT state</a:t>
            </a:r>
            <a:endParaRPr lang="en-US" sz="1800"/>
          </a:p>
        </p:txBody>
      </p:sp>
      <p:sp>
        <p:nvSpPr>
          <p:cNvPr id="14" name="Layout contract"/>
          <p:cNvSpPr txBox="1"/>
          <p:nvPr/>
        </p:nvSpPr>
        <p:spPr>
          <a:xfrm>
            <a:off x="62484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8066"/>
                </a:solidFill>
                <a:latin typeface="Arial"/>
              </a:rPr>
              <a:t>LAYOUT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shaped text + pixels</a:t>
            </a:r>
            <a:endParaRPr lang="en-US" sz="1800"/>
          </a:p>
        </p:txBody>
      </p:sp>
      <p:sp>
        <p:nvSpPr>
          <p:cNvPr id="15" name="Emit contract"/>
          <p:cNvSpPr txBox="1"/>
          <p:nvPr/>
        </p:nvSpPr>
        <p:spPr>
          <a:xfrm>
            <a:off x="88392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D166"/>
                </a:solidFill>
                <a:latin typeface="Arial"/>
              </a:rPr>
              <a:t>EMIT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OOXML bytes retained</a:t>
            </a:r>
            <a:endParaRPr lang="en-US" sz="1800"/>
          </a:p>
        </p:txBody>
      </p:sp>
      <p:sp>
        <p:nvSpPr>
          <p:cNvPr id="16" name="Panel divider one"/>
          <p:cNvSpPr/>
          <p:nvPr/>
        </p:nvSpPr>
        <p:spPr>
          <a:xfrm>
            <a:off x="33528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7" name="Panel divider two"/>
          <p:cNvSpPr/>
          <p:nvPr/>
        </p:nvSpPr>
        <p:spPr>
          <a:xfrm>
            <a:off x="59436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8" name="Panel divider three"/>
          <p:cNvSpPr/>
          <p:nvPr/>
        </p:nvSpPr>
        <p:spPr>
          <a:xfrm>
            <a:off x="85344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graphicFrame>
        <p:nvGraphicFramePr>
          <p:cNvPr id="90" name="Architecture table fixture"/>
          <p:cNvGraphicFramePr/>
          <p:nvPr/>
        </p:nvGraphicFramePr>
        <p:xfrm>
          <a:off x="12192000" y="6858000"/>
          <a:ext cx="1" cy="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2438400"/>
                <a:gridCol w="2895600"/>
                <a:gridCol w="3352800"/>
              </a:tblGrid>
              <a:tr h="6096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Rust owner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Contract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Boundary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OPC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Guarded parts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No external fetch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Model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PresentationML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Typed slide tree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Untouched bytes retained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Editing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CRDT deck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Local-origin undo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Raw update exchange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Output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Slide layout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Shaped text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Canvas display list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</a:tbl>
          </a:graphicData>
        </a:graphic>
      </p:graphicFrame>
      <p:sp>
        <p:nvSpPr>
          <p:cNvPr id="52" name="Slide field probe"/>
          <p:cNvSpPr txBox="1"/>
          <p:nvPr/>
        </p:nvSpPr>
        <p:spPr>
          <a:xfrm>
            <a:off x="9500000" y="5500000"/>
            <a:ext cx="2000000" cy="5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fld id="{44444444-4444-4444-4444-444444444444}" type="slidenum">
              <a:rPr lang="en-US" sz="1900">
                <a:solidFill>
                  <a:srgbClr val="AA5500"/>
                </a:solidFill>
                <a:latin typeface="Arial"/>
              </a:rPr>
              <a:t>77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LIVE COLLABORATION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066800"/>
            <a:ext cx="53340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600" b="1">
                <a:solidFill>
                  <a:srgbClr val="101828"/>
                </a:solidFill>
                <a:latin typeface="Arial"/>
              </a:rPr>
              <a:t>Multiplayer,</a:t>
            </a:r>
            <a:endParaRPr lang="en-US" sz="1800"/>
          </a:p>
          <a:p>
            <a:pPr algn="l" lvl="0"/>
            <a:r>
              <a:rPr lang="en-US" sz="3600" b="1">
                <a:solidFill>
                  <a:srgbClr val="315EFB"/>
                </a:solidFill>
                <a:latin typeface="Arial"/>
              </a:rPr>
              <a:t>minus the server tax.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2667000"/>
            <a:ext cx="51054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>
                <a:solidFill>
                  <a:srgbClr val="475467"/>
                </a:solidFill>
                <a:latin typeface="Arial"/>
              </a:rPr>
              <a:t>Every keystroke lands locally first. Peers exchange only updates, then converge on the same file.</a:t>
            </a:r>
            <a:endParaRPr lang="en-US" sz="1800"/>
          </a:p>
        </p:txBody>
      </p:sp>
      <p:sp>
        <p:nvSpPr>
          <p:cNvPr id="6" name="Local first step"/>
          <p:cNvSpPr txBox="1"/>
          <p:nvPr/>
        </p:nvSpPr>
        <p:spPr>
          <a:xfrm>
            <a:off x="762000" y="35433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0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315EFB"/>
                </a:solidFill>
                <a:latin typeface="Arial"/>
              </a:rPr>
              <a:t>01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Edit locally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Resident model. Instant feedback.</a:t>
            </a:r>
            <a:endParaRPr lang="en-US" sz="1800"/>
          </a:p>
        </p:txBody>
      </p:sp>
      <p:sp>
        <p:nvSpPr>
          <p:cNvPr id="7" name="Exchange updates step"/>
          <p:cNvSpPr txBox="1"/>
          <p:nvPr/>
        </p:nvSpPr>
        <p:spPr>
          <a:xfrm>
            <a:off x="762000" y="43815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D94F35"/>
                </a:solidFill>
                <a:latin typeface="Arial"/>
              </a:rPr>
              <a:t>02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Exchange updates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Compact binary deltas. Nothing else.</a:t>
            </a:r>
            <a:endParaRPr lang="en-US" sz="1800"/>
          </a:p>
        </p:txBody>
      </p:sp>
      <p:sp>
        <p:nvSpPr>
          <p:cNvPr id="8" name="Converge step"/>
          <p:cNvSpPr txBox="1"/>
          <p:nvPr/>
        </p:nvSpPr>
        <p:spPr>
          <a:xfrm>
            <a:off x="762000" y="52197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6825D"/>
                </a:solidFill>
                <a:latin typeface="Arial"/>
              </a:rPr>
              <a:t>03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Converge everywhere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One state across every peer.</a:t>
            </a:r>
            <a:endParaRPr lang="en-US" sz="1800"/>
          </a:p>
        </p:txBody>
      </p:sp>
      <p:sp>
        <p:nvSpPr>
          <p:cNvPr id="20" name="Live session panel"/>
          <p:cNvSpPr/>
          <p:nvPr/>
        </p:nvSpPr>
        <p:spPr>
          <a:xfrm>
            <a:off x="6400800" y="609600"/>
            <a:ext cx="502920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1FF"/>
            </a:solidFill>
          </a:ln>
        </p:spPr>
      </p:sp>
      <p:sp>
        <p:nvSpPr>
          <p:cNvPr id="21" name="Live session title"/>
          <p:cNvSpPr txBox="1"/>
          <p:nvPr/>
        </p:nvSpPr>
        <p:spPr>
          <a:xfrm>
            <a:off x="6781800" y="8382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01828"/>
                </a:solidFill>
                <a:latin typeface="Arial"/>
              </a:rPr>
              <a:t>Q3 launch deck</a:t>
            </a:r>
            <a:endParaRPr lang="en-US" sz="1800"/>
          </a:p>
        </p:txBody>
      </p:sp>
      <p:sp>
        <p:nvSpPr>
          <p:cNvPr id="22" name="Peer one"/>
          <p:cNvSpPr/>
          <p:nvPr/>
        </p:nvSpPr>
        <p:spPr>
          <a:xfrm>
            <a:off x="10058400" y="838200"/>
            <a:ext cx="342900" cy="342900"/>
          </a:xfrm>
          <a:prstGeom prst="ellipse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23" name="Peer two"/>
          <p:cNvSpPr/>
          <p:nvPr/>
        </p:nvSpPr>
        <p:spPr>
          <a:xfrm>
            <a:off x="10439400" y="838200"/>
            <a:ext cx="342900" cy="342900"/>
          </a:xfrm>
          <a:prstGeom prst="ellipse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24" name="Peer three"/>
          <p:cNvSpPr/>
          <p:nvPr/>
        </p:nvSpPr>
        <p:spPr>
          <a:xfrm>
            <a:off x="10820400" y="838200"/>
            <a:ext cx="342900" cy="342900"/>
          </a:xfrm>
          <a:prstGeom prst="ellipse">
            <a:avLst/>
          </a:prstGeom>
          <a:solidFill>
            <a:srgbClr val="48C78E"/>
          </a:solidFill>
          <a:ln>
            <a:noFill/>
          </a:ln>
        </p:spPr>
      </p:sp>
      <p:sp>
        <p:nvSpPr>
          <p:cNvPr id="25" name="Shared canvas"/>
          <p:cNvSpPr/>
          <p:nvPr/>
        </p:nvSpPr>
        <p:spPr>
          <a:xfrm>
            <a:off x="6781800" y="1524000"/>
            <a:ext cx="426720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4E7EC"/>
            </a:solidFill>
          </a:ln>
        </p:spPr>
      </p:sp>
      <p:sp>
        <p:nvSpPr>
          <p:cNvPr id="26" name="Shared canvas heading"/>
          <p:cNvSpPr txBox="1"/>
          <p:nvPr/>
        </p:nvSpPr>
        <p:spPr>
          <a:xfrm>
            <a:off x="7086600" y="18288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800" b="1">
                <a:solidFill>
                  <a:srgbClr val="101828"/>
                </a:solidFill>
                <a:latin typeface="Arial"/>
              </a:rPr>
              <a:t>Launch narrative</a:t>
            </a:r>
            <a:endParaRPr lang="en-US" sz="1800"/>
          </a:p>
        </p:txBody>
      </p:sp>
      <p:sp>
        <p:nvSpPr>
          <p:cNvPr id="27" name="Canvas line one"/>
          <p:cNvSpPr/>
          <p:nvPr/>
        </p:nvSpPr>
        <p:spPr>
          <a:xfrm>
            <a:off x="7086600" y="2590800"/>
            <a:ext cx="28194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8" name="Canvas line two"/>
          <p:cNvSpPr/>
          <p:nvPr/>
        </p:nvSpPr>
        <p:spPr>
          <a:xfrm>
            <a:off x="7086600" y="2819400"/>
            <a:ext cx="21336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9" name="Canvas card one"/>
          <p:cNvSpPr/>
          <p:nvPr/>
        </p:nvSpPr>
        <p:spPr>
          <a:xfrm>
            <a:off x="7086600" y="3352800"/>
            <a:ext cx="1524000" cy="990600"/>
          </a:xfrm>
          <a:prstGeom prst="roundRect">
            <a:avLst/>
          </a:prstGeom>
          <a:solidFill>
            <a:srgbClr val="E6EBFF"/>
          </a:solidFill>
          <a:ln>
            <a:noFill/>
          </a:ln>
        </p:spPr>
      </p:sp>
      <p:sp>
        <p:nvSpPr>
          <p:cNvPr id="30" name="Canvas card two"/>
          <p:cNvSpPr/>
          <p:nvPr/>
        </p:nvSpPr>
        <p:spPr>
          <a:xfrm>
            <a:off x="8839200" y="3352800"/>
            <a:ext cx="1905000" cy="990600"/>
          </a:xfrm>
          <a:prstGeom prst="roundRect">
            <a:avLst/>
          </a:prstGeom>
          <a:solidFill>
            <a:srgbClr val="E7F8EF"/>
          </a:solidFill>
          <a:ln>
            <a:noFill/>
          </a:ln>
        </p:spPr>
      </p:sp>
      <p:sp>
        <p:nvSpPr>
          <p:cNvPr id="31" name="You cursor"/>
          <p:cNvSpPr txBox="1"/>
          <p:nvPr/>
        </p:nvSpPr>
        <p:spPr>
          <a:xfrm>
            <a:off x="6934200" y="3048000"/>
            <a:ext cx="762000" cy="3810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FFFFFF"/>
                </a:solidFill>
                <a:latin typeface="Arial"/>
              </a:rPr>
              <a:t>YOU</a:t>
            </a:r>
            <a:endParaRPr lang="en-US" sz="1800"/>
          </a:p>
        </p:txBody>
      </p:sp>
      <p:sp>
        <p:nvSpPr>
          <p:cNvPr id="32" name="You cursor line"/>
          <p:cNvSpPr/>
          <p:nvPr/>
        </p:nvSpPr>
        <p:spPr>
          <a:xfrm>
            <a:off x="7315200" y="3390900"/>
            <a:ext cx="15240" cy="762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3" name="Maya cursor"/>
          <p:cNvSpPr txBox="1"/>
          <p:nvPr/>
        </p:nvSpPr>
        <p:spPr>
          <a:xfrm>
            <a:off x="9677400" y="2286000"/>
            <a:ext cx="838200" cy="381000"/>
          </a:xfrm>
          <a:prstGeom prst="roundRect">
            <a:avLst/>
          </a:prstGeom>
          <a:solidFill>
            <a:srgbClr val="FF80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101828"/>
                </a:solidFill>
                <a:latin typeface="Arial"/>
              </a:rPr>
              <a:t>MAYA</a:t>
            </a:r>
            <a:endParaRPr lang="en-US" sz="1800"/>
          </a:p>
        </p:txBody>
      </p:sp>
      <p:sp>
        <p:nvSpPr>
          <p:cNvPr id="34" name="Maya cursor line"/>
          <p:cNvSpPr/>
          <p:nvPr/>
        </p:nvSpPr>
        <p:spPr>
          <a:xfrm>
            <a:off x="10096500" y="2628900"/>
            <a:ext cx="15240" cy="914400"/>
          </a:xfrm>
          <a:prstGeom prst="rect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35" name="Session status"/>
          <p:cNvSpPr txBox="1"/>
          <p:nvPr/>
        </p:nvSpPr>
        <p:spPr>
          <a:xfrm>
            <a:off x="6781800" y="5181600"/>
            <a:ext cx="4267200" cy="53340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50" b="1">
                <a:solidFill>
                  <a:srgbClr val="101828"/>
                </a:solidFill>
                <a:latin typeface="Arial"/>
              </a:rPr>
              <a:t>3 peers  ·  synced  ·  local-first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3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